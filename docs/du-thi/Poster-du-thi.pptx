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0276800" cy="42799000"/>
  <p:notesSz cx="6858000" cy="9144000"/>
  <p:embeddedFontLst>
    <p:embeddedFont>
      <p:font typeface="Aptos Bold" charset="1" panose="020B0004020202020204"/>
      <p:regular r:id="rId7"/>
    </p:embeddedFont>
    <p:embeddedFont>
      <p:font typeface="Aptos" charset="1" panose="020B0004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6" id="6"/>
          <p:cNvSpPr/>
          <p:nvPr/>
        </p:nvSpPr>
        <p:spPr>
          <a:xfrm flipH="false" flipV="false" rot="0">
            <a:off x="0" y="0"/>
            <a:ext cx="30276000" cy="5506447"/>
          </a:xfrm>
          <a:custGeom>
            <a:avLst/>
            <a:gdLst/>
            <a:ahLst/>
            <a:cxnLst/>
            <a:rect r="r" b="b" t="t" l="l"/>
            <a:pathLst>
              <a:path h="5506447" w="30276000">
                <a:moveTo>
                  <a:pt x="0" y="0"/>
                </a:moveTo>
                <a:lnTo>
                  <a:pt x="30276000" y="0"/>
                </a:lnTo>
                <a:lnTo>
                  <a:pt x="30276000" y="5506447"/>
                </a:lnTo>
                <a:lnTo>
                  <a:pt x="0" y="550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44275" y="6325409"/>
            <a:ext cx="27886654" cy="17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0"/>
              </a:lnSpc>
            </a:pPr>
            <a:r>
              <a:rPr lang="en-US" sz="5400" b="true">
                <a:solidFill>
                  <a:srgbClr val="090081"/>
                </a:solidFill>
                <a:latin typeface="Aptos Bold"/>
                <a:ea typeface="Aptos Bold"/>
                <a:cs typeface="Aptos Bold"/>
                <a:sym typeface="Aptos Bold"/>
              </a:rPr>
              <a:t>TRỢ LÝ GIẢNG DẠY – PHIẾU BÀI TẬP PHÂN HÓA VÀ ĐÁNH GIÁ</a:t>
            </a:r>
          </a:p>
          <a:p>
            <a:pPr algn="l">
              <a:lnSpc>
                <a:spcPts val="7290"/>
              </a:lnSpc>
            </a:pPr>
            <a:r>
              <a:rPr lang="en-US" sz="5400" b="true">
                <a:solidFill>
                  <a:srgbClr val="090081"/>
                </a:solidFill>
                <a:latin typeface="Aptos Bold"/>
                <a:ea typeface="Aptos Bold"/>
                <a:cs typeface="Aptos Bold"/>
                <a:sym typeface="Aptos Bold"/>
              </a:rPr>
              <a:t>HỌC SINH TIỂU HỌC THEO THÔNG TƯ 27 BẰNG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4275" y="8183879"/>
            <a:ext cx="27886654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5"/>
              </a:lnSpc>
            </a:pPr>
            <a:r>
              <a:rPr lang="en-US" sz="4500" b="1">
                <a:solidFill>
                  <a:srgbClr val="090081"/>
                </a:solidFill>
                <a:latin typeface="Aptos Bold"/>
                <a:ea typeface="Aptos Bold"/>
                <a:cs typeface="Aptos Bold"/>
                <a:sym typeface="Aptos Bold"/>
              </a:rPr>
              <a:t>Giáo viên thực hiện:</a:t>
            </a:r>
            <a:r>
              <a:rPr lang="en-US" sz="4500" b="true">
                <a:solidFill>
                  <a:srgbClr val="090081"/>
                </a:solidFill>
                <a:latin typeface="Aptos Bold"/>
                <a:ea typeface="Aptos Bold"/>
                <a:cs typeface="Aptos Bold"/>
                <a:sym typeface="Aptos Bold"/>
              </a:rPr>
              <a:t> ⟦Họ và tên⟧</a:t>
            </a:r>
          </a:p>
          <a:p>
            <a:pPr algn="l">
              <a:lnSpc>
                <a:spcPts val="5445"/>
              </a:lnSpc>
            </a:pPr>
            <a:r>
              <a:rPr lang="en-US" sz="4500" b="1">
                <a:solidFill>
                  <a:srgbClr val="090081"/>
                </a:solidFill>
                <a:latin typeface="Aptos Bold"/>
                <a:ea typeface="Aptos Bold"/>
                <a:cs typeface="Aptos Bold"/>
                <a:sym typeface="Aptos Bold"/>
              </a:rPr>
              <a:t>Đơn vị công tác:</a:t>
            </a:r>
            <a:r>
              <a:rPr lang="en-US" sz="4500" b="true">
                <a:solidFill>
                  <a:srgbClr val="090081"/>
                </a:solidFill>
                <a:latin typeface="Aptos Bold"/>
                <a:ea typeface="Aptos Bold"/>
                <a:cs typeface="Aptos Bold"/>
                <a:sym typeface="Aptos Bold"/>
              </a:rPr>
              <a:t> ⟦Trường Tiểu học …⟧, ⟦Địa chỉ trường⟧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92224" y="10241280"/>
            <a:ext cx="12252960" cy="859536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9424" y="105613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090081"/>
                </a:solidFill>
                <a:latin typeface="Aptos"/>
              </a:rPr>
              <a:t>1. BỐI CẢNH VÀ VẤN ĐỀ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11704320"/>
            <a:ext cx="1133856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000054"/>
                </a:solidFill>
                <a:latin typeface="Aptos"/>
              </a:rPr>
              <a:t>• Lớp ⟦…⟧: ⟦…⟧ học sinh, trình độ chênh lệch rõ.</a:t>
            </a:r>
          </a:p>
          <a:p>
            <a:pPr>
              <a:spcAft>
                <a:spcPts val="1530"/>
              </a:spcAft>
            </a:pPr>
            <a:r>
              <a:rPr sz="3400" b="0">
                <a:solidFill>
                  <a:srgbClr val="000054"/>
                </a:solidFill>
                <a:latin typeface="Aptos"/>
              </a:rPr>
              <a:t>• TT27: đánh giá thường xuyên bằng nhận xét; bài tập </a:t>
            </a:r>
            <a:r>
              <a:rPr sz="3400" b="1">
                <a:solidFill>
                  <a:srgbClr val="000054"/>
                </a:solidFill>
                <a:latin typeface="Aptos"/>
              </a:rPr>
              <a:t>3 mức</a:t>
            </a:r>
            <a:r>
              <a:rPr sz="3400" b="0">
                <a:solidFill>
                  <a:srgbClr val="000054"/>
                </a:solidFill>
                <a:latin typeface="Aptos"/>
              </a:rPr>
              <a:t>.</a:t>
            </a:r>
          </a:p>
          <a:p>
            <a:pPr>
              <a:spcAft>
                <a:spcPts val="1530"/>
              </a:spcAft>
            </a:pPr>
            <a:r>
              <a:rPr sz="3400" b="0">
                <a:solidFill>
                  <a:srgbClr val="000054"/>
                </a:solidFill>
                <a:latin typeface="Aptos"/>
              </a:rPr>
              <a:t>• Soạn 1 phiếu phân hóa có đáp án ≈ ⟦…⟧ phút; chấm và nhận xét 1 lớp ≈ ⟦…⟧ phút.</a:t>
            </a:r>
          </a:p>
          <a:p>
            <a:pPr>
              <a:spcAft>
                <a:spcPts val="1530"/>
              </a:spcAft>
            </a:pPr>
            <a:r>
              <a:rPr sz="3400" b="0">
                <a:solidFill>
                  <a:srgbClr val="000054"/>
                </a:solidFill>
                <a:latin typeface="Aptos"/>
              </a:rPr>
              <a:t>• Chatbot AI phổ thông: rời rạc, không theo TT27, không tự kiểm tra đáp án.</a:t>
            </a:r>
          </a:p>
          <a:p>
            <a:pPr>
              <a:spcAft>
                <a:spcPts val="1530"/>
              </a:spcAft>
            </a:pPr>
            <a:r>
              <a:rPr sz="3400" b="0">
                <a:solidFill>
                  <a:srgbClr val="000054"/>
                </a:solidFill>
                <a:latin typeface="Aptos"/>
              </a:rPr>
              <a:t>• </a:t>
            </a:r>
            <a:r>
              <a:rPr sz="3400" b="1">
                <a:solidFill>
                  <a:srgbClr val="000054"/>
                </a:solidFill>
                <a:latin typeface="Aptos"/>
              </a:rPr>
              <a:t>Đối tượng hưởng lợi:</a:t>
            </a:r>
            <a:r>
              <a:rPr sz="3400" b="0">
                <a:solidFill>
                  <a:srgbClr val="000054"/>
                </a:solidFill>
                <a:latin typeface="Aptos"/>
              </a:rPr>
              <a:t> học sinh và giáo viên tiểu học.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56664" y="10241280"/>
            <a:ext cx="14100048" cy="859536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13864" y="10561320"/>
            <a:ext cx="131856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090081"/>
                </a:solidFill>
                <a:latin typeface="Aptos"/>
              </a:rPr>
              <a:t>2. GIẢI PHÁP: VÒNG KHÉP KÍN</a:t>
            </a:r>
          </a:p>
        </p:txBody>
      </p:sp>
      <p:pic>
        <p:nvPicPr>
          <p:cNvPr id="14" name="Picture 13" descr="so-do-vong-khep-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7728" y="11612880"/>
            <a:ext cx="6217920" cy="6217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913864" y="17830800"/>
            <a:ext cx="131856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0">
                <a:solidFill>
                  <a:srgbClr val="000054"/>
                </a:solidFill>
                <a:latin typeface="Aptos"/>
              </a:rPr>
              <a:t>AI đề xuất – </a:t>
            </a:r>
            <a:r>
              <a:rPr sz="2800" b="1">
                <a:solidFill>
                  <a:srgbClr val="000054"/>
                </a:solidFill>
                <a:latin typeface="Aptos"/>
              </a:rPr>
              <a:t>giáo viên quyết định</a:t>
            </a:r>
            <a:r>
              <a:rPr sz="2800" b="0">
                <a:solidFill>
                  <a:srgbClr val="000054"/>
                </a:solidFill>
                <a:latin typeface="Aptos"/>
              </a:rPr>
              <a:t>. Công cụ: Google Gemini · Streamlit · Supabase.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2224" y="19248120"/>
            <a:ext cx="26764488" cy="1207008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9424" y="19568160"/>
            <a:ext cx="258500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090081"/>
                </a:solidFill>
                <a:latin typeface="Aptos"/>
              </a:rPr>
              <a:t>3. AI HOẠT ĐỘNG THẾ NÀO</a:t>
            </a:r>
          </a:p>
        </p:txBody>
      </p:sp>
      <p:pic>
        <p:nvPicPr>
          <p:cNvPr id="18" name="Picture 17" descr="02-soan-phieu-kiem-din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852" y="20711160"/>
            <a:ext cx="5943600" cy="4114800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2249424" y="24871680"/>
            <a:ext cx="82204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000054"/>
                </a:solidFill>
                <a:latin typeface="Aptos"/>
              </a:rPr>
              <a:t>① Soạn phiếu 3 mức từ tên bài / ảnh SGK</a:t>
            </a:r>
          </a:p>
        </p:txBody>
      </p:sp>
      <p:pic>
        <p:nvPicPr>
          <p:cNvPr id="20" name="Picture 19" descr="03-gop-y-kiem-din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2628" y="20711160"/>
            <a:ext cx="5943600" cy="4114800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10744200" y="24871680"/>
            <a:ext cx="82204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000054"/>
                </a:solidFill>
                <a:latin typeface="Aptos"/>
              </a:rPr>
              <a:t>② AI kiểm định tự giải lại, soát đáp án sai</a:t>
            </a:r>
          </a:p>
        </p:txBody>
      </p:sp>
      <p:pic>
        <p:nvPicPr>
          <p:cNvPr id="22" name="Picture 21" descr="31-phieu-xan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94551" y="20711160"/>
            <a:ext cx="2909306" cy="4114800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19238976" y="24871680"/>
            <a:ext cx="82204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000054"/>
                </a:solidFill>
                <a:latin typeface="Aptos"/>
              </a:rPr>
              <a:t>③ Phiếu Xanh/Cam/Tím – không dán nhãn</a:t>
            </a:r>
          </a:p>
        </p:txBody>
      </p:sp>
      <p:pic>
        <p:nvPicPr>
          <p:cNvPr id="24" name="Picture 23" descr="21-hs-lam-ca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8958" y="26014680"/>
            <a:ext cx="1901388" cy="4114799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2249424" y="30175200"/>
            <a:ext cx="82204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000054"/>
                </a:solidFill>
                <a:latin typeface="Aptos"/>
              </a:rPr>
              <a:t>③ Quét QR, chọn tên, làm bài trên điện thoại</a:t>
            </a:r>
          </a:p>
        </p:txBody>
      </p:sp>
      <p:pic>
        <p:nvPicPr>
          <p:cNvPr id="26" name="Picture 25" descr="10-phan-tich-loi-s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2628" y="26014680"/>
            <a:ext cx="5943600" cy="4114800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10744200" y="30175200"/>
            <a:ext cx="82204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000054"/>
                </a:solidFill>
                <a:latin typeface="Aptos"/>
              </a:rPr>
              <a:t>④⑤ Chấm, nhận xét TT27, phân tích lỗi → bổ trợ</a:t>
            </a:r>
          </a:p>
        </p:txBody>
      </p:sp>
      <p:pic>
        <p:nvPicPr>
          <p:cNvPr id="28" name="Picture 27" descr="12-tien-bo-bieu-d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77404" y="26014680"/>
            <a:ext cx="5943600" cy="4114800"/>
          </a:xfrm>
          <a:prstGeom prst="rect">
            <a:avLst/>
          </a:prstGeom>
          <a:ln w="19050">
            <a:solidFill>
              <a:srgbClr val="CFD8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19238976" y="30175200"/>
            <a:ext cx="82204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000054"/>
                </a:solidFill>
                <a:latin typeface="Aptos"/>
              </a:rPr>
              <a:t>⑥ Tiến bộ từng em, gợi ý nhận xét học bạ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92224" y="31729680"/>
            <a:ext cx="12252960" cy="658368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9424" y="320497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090081"/>
                </a:solidFill>
                <a:latin typeface="Aptos"/>
              </a:rPr>
              <a:t>4. KẾT QUẢ THỰC TẾ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9424" y="3319272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000054"/>
                </a:solidFill>
                <a:latin typeface="Aptos"/>
              </a:rPr>
              <a:t>• Soạn 1 phiếu: ⟦…⟧ → ⟦…⟧ phút</a:t>
            </a:r>
          </a:p>
          <a:p>
            <a:pPr>
              <a:spcAft>
                <a:spcPts val="1440"/>
              </a:spcAft>
            </a:pPr>
            <a:r>
              <a:rPr sz="3200" b="0">
                <a:solidFill>
                  <a:srgbClr val="000054"/>
                </a:solidFill>
                <a:latin typeface="Aptos"/>
              </a:rPr>
              <a:t>• Chấm và nhận xét 1 lớp: ⟦…⟧ → ⟦…⟧ phút</a:t>
            </a:r>
          </a:p>
          <a:p>
            <a:pPr>
              <a:spcAft>
                <a:spcPts val="1440"/>
              </a:spcAft>
            </a:pPr>
            <a:r>
              <a:rPr sz="3200" b="0">
                <a:solidFill>
                  <a:srgbClr val="000054"/>
                </a:solidFill>
                <a:latin typeface="Aptos"/>
              </a:rPr>
              <a:t>• Câu yếu sau bổ trợ: chưa đạt ⟦…%⟧ → ⟦…%⟧</a:t>
            </a:r>
          </a:p>
          <a:p>
            <a:pPr>
              <a:spcAft>
                <a:spcPts val="1440"/>
              </a:spcAft>
            </a:pPr>
            <a:r>
              <a:rPr sz="3200" b="0">
                <a:solidFill>
                  <a:srgbClr val="000054"/>
                </a:solidFill>
                <a:latin typeface="Aptos"/>
              </a:rPr>
              <a:t>• ⟦…%⟧ học sinh thích · giáo viên đánh giá ⟦…⟧/5</a:t>
            </a:r>
          </a:p>
          <a:p>
            <a:pPr>
              <a:spcAft>
                <a:spcPts val="1440"/>
              </a:spcAft>
            </a:pPr>
            <a:r>
              <a:rPr sz="3200" b="0">
                <a:solidFill>
                  <a:srgbClr val="000054"/>
                </a:solidFill>
                <a:latin typeface="Aptos"/>
              </a:rPr>
              <a:t>"⟦Trích phản hồi giáo viên⟧"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456664" y="31729680"/>
            <a:ext cx="14100048" cy="658368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13864" y="32049720"/>
            <a:ext cx="131856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090081"/>
                </a:solidFill>
                <a:latin typeface="Aptos"/>
              </a:rPr>
              <a:t>5. AI CÓ TRÁCH NHIỆM · BỀN VỮNG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13864" y="33192720"/>
            <a:ext cx="13185648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000054"/>
                </a:solidFill>
                <a:latin typeface="Aptos"/>
              </a:rPr>
              <a:t>• Giáo viên duyệt mọi đề, đáp án, điểm, nhận xét; kiểm định 2 lượt.</a:t>
            </a:r>
          </a:p>
          <a:p>
            <a:pPr>
              <a:spcAft>
                <a:spcPts val="1440"/>
              </a:spcAft>
            </a:pPr>
            <a:r>
              <a:rPr sz="3200" b="0">
                <a:solidFill>
                  <a:srgbClr val="000054"/>
                </a:solidFill>
                <a:latin typeface="Aptos"/>
              </a:rPr>
              <a:t>• Không gửi tên học sinh cho AI; học sinh không cần tài khoản.</a:t>
            </a:r>
          </a:p>
          <a:p>
            <a:pPr>
              <a:spcAft>
                <a:spcPts val="1440"/>
              </a:spcAft>
            </a:pPr>
            <a:r>
              <a:rPr sz="3200" b="0">
                <a:solidFill>
                  <a:srgbClr val="000054"/>
                </a:solidFill>
                <a:latin typeface="Aptos"/>
              </a:rPr>
              <a:t>• </a:t>
            </a:r>
            <a:r>
              <a:rPr sz="3200" b="1">
                <a:solidFill>
                  <a:srgbClr val="000054"/>
                </a:solidFill>
                <a:latin typeface="Aptos"/>
              </a:rPr>
              <a:t>0 đồng</a:t>
            </a:r>
            <a:r>
              <a:rPr sz="3200" b="0">
                <a:solidFill>
                  <a:srgbClr val="000054"/>
                </a:solidFill>
                <a:latin typeface="Aptos"/>
              </a:rPr>
              <a:t>, chạy trên trình duyệt; khối 1–5, 8 môn, 3 bộ sách.</a:t>
            </a:r>
          </a:p>
          <a:p>
            <a:pPr>
              <a:spcAft>
                <a:spcPts val="1440"/>
              </a:spcAft>
            </a:pPr>
            <a:r>
              <a:rPr sz="3200" b="0">
                <a:solidFill>
                  <a:srgbClr val="000054"/>
                </a:solidFill>
                <a:latin typeface="Aptos"/>
              </a:rPr>
              <a:t>• Định hướng: chia sẻ trong tổ chuyên môn, tin nhắn phụ huynh.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2704" y="38633400"/>
            <a:ext cx="2103120" cy="2103120"/>
          </a:xfrm>
          <a:prstGeom prst="rect">
            <a:avLst/>
          </a:prstGeom>
          <a:noFill/>
          <a:ln>
            <a:solidFill>
              <a:srgbClr val="00005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⟦tạo QR⟧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18704" y="39319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4000" b="1">
                <a:solidFill>
                  <a:srgbClr val="000054"/>
                </a:solidFill>
                <a:latin typeface="Aptos"/>
              </a:rPr>
              <a:t>Dùng thử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679424" y="38633400"/>
            <a:ext cx="2103120" cy="2103120"/>
          </a:xfrm>
          <a:prstGeom prst="rect">
            <a:avLst/>
          </a:prstGeom>
          <a:noFill/>
          <a:ln>
            <a:solidFill>
              <a:srgbClr val="00005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⟦tạo QR⟧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65424" y="39319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4000" b="1">
                <a:solidFill>
                  <a:srgbClr val="000054"/>
                </a:solidFill>
                <a:latin typeface="Aptos"/>
              </a:rPr>
              <a:t>Video</a:t>
            </a:r>
          </a:p>
        </p:txBody>
      </p:sp>
      <p:pic>
        <p:nvPicPr>
          <p:cNvPr id="40" name="Picture 39" descr="qr-ap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26144" y="38633400"/>
            <a:ext cx="2103120" cy="21031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4012144" y="39319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4000" b="1">
                <a:solidFill>
                  <a:srgbClr val="000054"/>
                </a:solidFill>
                <a:latin typeface="Aptos"/>
              </a:rPr>
              <a:t>Trang chủ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92224" y="40827960"/>
            <a:ext cx="26764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80"/>
              </a:spcAft>
            </a:pPr>
            <a:r>
              <a:rPr sz="2400" b="0">
                <a:solidFill>
                  <a:srgbClr val="000054"/>
                </a:solidFill>
                <a:latin typeface="Aptos"/>
              </a:rPr>
              <a:t>Phần lập trình được thực hiện với sự hỗ trợ của công cụ AI Claude Code ⟦và …⟧.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DAHW1Dh9jN8</dc:identifier>
  <dcterms:modified xsi:type="dcterms:W3CDTF">2011-08-01T06:04:30Z</dcterms:modified>
  <cp:revision>1</cp:revision>
  <dc:title>Mẫu Poster - Giải thưởng Tiên Phong Ứng dụng AI trong giáo dục Việt Nam 2026</dc:title>
</cp:coreProperties>
</file>