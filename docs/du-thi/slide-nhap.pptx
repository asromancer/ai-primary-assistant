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400" b="1">
                <a:solidFill>
                  <a:srgbClr val="0D47A1"/>
                </a:solidFill>
                <a:latin typeface="Be Vietnam Pro"/>
              </a:rPr>
              <a:t>TRỢ LÝ GIẢNG DẠY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4846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444444"/>
                </a:solidFill>
                <a:latin typeface="Be Vietnam Pro"/>
              </a:rPr>
              <a:t>Phiếu bài tập phân hóa và đánh giá học sinh tiểu học theo Thông tư 27 bằng AI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444444"/>
                </a:solidFill>
                <a:latin typeface="Be Vietnam Pro"/>
              </a:rPr>
              <a:t>⟦Họ tên tác giả⟧ – ⟦chức vụ⟧ – Trường ⟦…⟧, ⟦tỉnh/thành⟧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444444"/>
                </a:solidFill>
                <a:latin typeface="Be Vietnam Pro"/>
              </a:rPr>
              <a:t>Bảng A · Chủ đề: Giảng dạy, học tập và đánh giá</a:t>
            </a:r>
          </a:p>
        </p:txBody>
      </p:sp>
      <p:pic>
        <p:nvPicPr>
          <p:cNvPr id="4" name="Picture 3" descr="01-trang-ch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786702"/>
            <a:ext cx="6065215" cy="4198995"/>
          </a:xfrm>
          <a:prstGeom prst="rect">
            <a:avLst/>
          </a:prstGeom>
        </p:spPr>
      </p:pic>
      <p:pic>
        <p:nvPicPr>
          <p:cNvPr id="5" name="Picture 4" descr="qr-ap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4255" y="4480560"/>
            <a:ext cx="2011680" cy="2011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200" b="0">
                <a:solidFill>
                  <a:srgbClr val="444444"/>
                </a:solidFill>
                <a:latin typeface="Be Vietnam Pro"/>
              </a:rPr>
              <a:t>1/15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400" b="1">
                <a:solidFill>
                  <a:srgbClr val="0D47A1"/>
                </a:solidFill>
                <a:latin typeface="Be Vietnam Pro"/>
              </a:rPr>
              <a:t>Bối cảnh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>
                <a:solidFill>
                  <a:srgbClr val="444444"/>
                </a:solidFill>
                <a:latin typeface="Be Vietnam Pro"/>
              </a:rPr>
              <a:t>• Lớp ⟦…⟧: ⟦sĩ số⟧ học sinh, trình độ chênh lệch rõ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444444"/>
                </a:solidFill>
                <a:latin typeface="Be Vietnam Pro"/>
              </a:rPr>
              <a:t>• TT27: đánh giá thường xuyên bằng nhận xét; bài tập 3 mức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444444"/>
                </a:solidFill>
                <a:latin typeface="Be Vietnam Pro"/>
              </a:rPr>
              <a:t>• Phân hóa cần thiết nhưng tốn thời gian: soạn 3 mức, đáp án, in theo nhóm, chấm, nhận xét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444444"/>
                </a:solidFill>
                <a:latin typeface="Be Vietnam Pro"/>
              </a:rPr>
              <a:t>• Soạn 1 phiếu ≈ ⟦…⟧ phút · chấm và nhận xét 1 lớp ≈ ⟦…⟧ phút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200" b="0">
                <a:solidFill>
                  <a:srgbClr val="444444"/>
                </a:solidFill>
                <a:latin typeface="Be Vietnam Pro"/>
              </a:rPr>
              <a:t>2/15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400" b="1">
                <a:solidFill>
                  <a:srgbClr val="0D47A1"/>
                </a:solidFill>
                <a:latin typeface="Be Vietnam Pro"/>
              </a:rPr>
              <a:t>Vấn đề và nguyên nhân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>
                <a:solidFill>
                  <a:srgbClr val="444444"/>
                </a:solidFill>
                <a:latin typeface="Be Vietnam Pro"/>
              </a:rPr>
              <a:t>• Soạn đề 3 mức đúng chuẩn TT27 tốn thời gian, chất lượng không đều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444444"/>
                </a:solidFill>
                <a:latin typeface="Be Vietnam Pro"/>
              </a:rPr>
              <a:t>• Chatbot AI phổ thông: không theo mẫu TT27, không tự kiểm tra đáp án, không nối với chấm và theo dõi tiến bộ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444444"/>
                </a:solidFill>
                <a:latin typeface="Be Vietnam Pro"/>
              </a:rPr>
              <a:t>• Kết quả chấm nằm trên giấy, khó phân tích để dạy bù kịp thời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444444"/>
                </a:solidFill>
                <a:latin typeface="Be Vietnam Pro"/>
              </a:rPr>
              <a:t>• Làm sao để AI giúp đi hết vòng soạn → dạy → đánh giá → bổ trợ mà giáo viên vẫn làm chủ?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200" b="0">
                <a:solidFill>
                  <a:srgbClr val="444444"/>
                </a:solidFill>
                <a:latin typeface="Be Vietnam Pro"/>
              </a:rPr>
              <a:t>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400" b="1">
                <a:solidFill>
                  <a:srgbClr val="0D47A1"/>
                </a:solidFill>
                <a:latin typeface="Be Vietnam Pro"/>
              </a:rPr>
              <a:t>Giải pháp: vòng khép kín 6 bước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4846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444444"/>
                </a:solidFill>
                <a:latin typeface="Be Vietnam Pro"/>
              </a:rPr>
              <a:t>• ① Soạn phiếu 3 mức → ② AI kiểm định → ③ Dạy và giao bài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444444"/>
                </a:solidFill>
                <a:latin typeface="Be Vietnam Pro"/>
              </a:rPr>
              <a:t>• ④ Chấm và nhận xét TT27 → ⑤ Phân tích lỗi và phiếu bổ trợ → ⑥ Tiến bộ và học bạ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444444"/>
                </a:solidFill>
                <a:latin typeface="Be Vietnam Pro"/>
              </a:rPr>
              <a:t>• AI đề xuất – giáo viên quyết định</a:t>
            </a:r>
          </a:p>
        </p:txBody>
      </p:sp>
      <p:pic>
        <p:nvPicPr>
          <p:cNvPr id="4" name="Picture 3" descr="so-do-vong-khep-k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7287" y="1371600"/>
            <a:ext cx="50292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200" b="0">
                <a:solidFill>
                  <a:srgbClr val="444444"/>
                </a:solidFill>
                <a:latin typeface="Be Vietnam Pro"/>
              </a:rPr>
              <a:t>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400" b="1">
                <a:solidFill>
                  <a:srgbClr val="0D47A1"/>
                </a:solidFill>
                <a:latin typeface="Be Vietnam Pro"/>
              </a:rPr>
              <a:t>AI được dùng như thế nào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>
                <a:solidFill>
                  <a:srgbClr val="444444"/>
                </a:solidFill>
                <a:latin typeface="Be Vietnam Pro"/>
              </a:rPr>
              <a:t>• Soạn phiếu từ tên bài hoặc ảnh sách giáo khoa · AI kiểm định lượt 2 · chấm ảnh bài viết tay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444444"/>
                </a:solidFill>
                <a:latin typeface="Be Vietnam Pro"/>
              </a:rPr>
              <a:t>• Nhận xét TT27 · phiếu bổ trợ từ phân tích lỗi · gợi ý nhận xét học bạ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444444"/>
                </a:solidFill>
                <a:latin typeface="Be Vietnam Pro"/>
              </a:rPr>
              <a:t>• Công cụ: Google Gemini (đa phương thức) · Streamlit · Supabase · đăng nhập Google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444444"/>
                </a:solidFill>
                <a:latin typeface="Be Vietnam Pro"/>
              </a:rPr>
              <a:t>• Chi phí: 0 đồng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200" b="0">
                <a:solidFill>
                  <a:srgbClr val="444444"/>
                </a:solidFill>
                <a:latin typeface="Be Vietnam Pro"/>
              </a:rPr>
              <a:t>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400" b="1">
                <a:solidFill>
                  <a:srgbClr val="0D47A1"/>
                </a:solidFill>
                <a:latin typeface="Be Vietnam Pro"/>
              </a:rPr>
              <a:t>① Soạn phiếu từ tên bài hoặc ảnh sách giáo khoa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4846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444444"/>
                </a:solidFill>
                <a:latin typeface="Be Vietnam Pro"/>
              </a:rPr>
              <a:t>• Phiếu 3 mức kèm đáp án, hướng dẫn chấm, ma trận, yêu cầu cần đạt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444444"/>
                </a:solidFill>
                <a:latin typeface="Be Vietnam Pro"/>
              </a:rPr>
              <a:t>• Đáp án chuẩn tiểu học: Bài giải – lời giải – phép tính (đơn vị) – Đáp số</a:t>
            </a:r>
          </a:p>
        </p:txBody>
      </p:sp>
      <p:pic>
        <p:nvPicPr>
          <p:cNvPr id="4" name="Picture 3" descr="02-soan-phieu-kiem-din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786702"/>
            <a:ext cx="6065215" cy="41989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200" b="0">
                <a:solidFill>
                  <a:srgbClr val="444444"/>
                </a:solidFill>
                <a:latin typeface="Be Vietnam Pro"/>
              </a:rPr>
              <a:t>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400" b="1">
                <a:solidFill>
                  <a:srgbClr val="0D47A1"/>
                </a:solidFill>
                <a:latin typeface="Be Vietnam Pro"/>
              </a:rPr>
              <a:t>② AI kiểm định – tổ trưởng chuyên môn 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4846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444444"/>
                </a:solidFill>
                <a:latin typeface="Be Vietnam Pro"/>
              </a:rPr>
              <a:t>• Tự giải lại từng câu: soát đáp án sai, câu lệch mức, từ ngữ chưa phù hợp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444444"/>
                </a:solidFill>
                <a:latin typeface="Be Vietnam Pro"/>
              </a:rPr>
              <a:t>• Điểm chất lượng 0–100, góp ý từng câu, nút Sửa theo góp ý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444444"/>
                </a:solidFill>
                <a:latin typeface="Be Vietnam Pro"/>
              </a:rPr>
              <a:t>• Thí điểm: phát hiện ⟦…⟧ lỗi / ⟦…⟧ phiếu</a:t>
            </a:r>
          </a:p>
        </p:txBody>
      </p:sp>
      <p:pic>
        <p:nvPicPr>
          <p:cNvPr id="4" name="Picture 3" descr="03-gop-y-kiem-din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786702"/>
            <a:ext cx="6065215" cy="41989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200" b="0">
                <a:solidFill>
                  <a:srgbClr val="444444"/>
                </a:solidFill>
                <a:latin typeface="Be Vietnam Pro"/>
              </a:rPr>
              <a:t>7/15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400" b="1">
                <a:solidFill>
                  <a:srgbClr val="0D47A1"/>
                </a:solidFill>
                <a:latin typeface="Be Vietnam Pro"/>
              </a:rPr>
              <a:t>③ Phân hóa không dán nhãn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4846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444444"/>
                </a:solidFill>
                <a:latin typeface="Be Vietnam Pro"/>
              </a:rPr>
              <a:t>• 1 phiếu tự tách thành Phiếu Xanh / Cam / Tím (tên màu trung tính)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444444"/>
                </a:solidFill>
                <a:latin typeface="Be Vietnam Pro"/>
              </a:rPr>
              <a:t>• Đề A/B chống nhìn bài · phiếu in sẵn tên từng em · in A4 hoặc Word</a:t>
            </a:r>
          </a:p>
        </p:txBody>
      </p:sp>
      <p:pic>
        <p:nvPicPr>
          <p:cNvPr id="4" name="Picture 3" descr="31-phieu-xan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773937"/>
            <a:ext cx="2986887" cy="4224526"/>
          </a:xfrm>
          <a:prstGeom prst="rect">
            <a:avLst/>
          </a:prstGeom>
        </p:spPr>
      </p:pic>
      <p:pic>
        <p:nvPicPr>
          <p:cNvPr id="5" name="Picture 4" descr="13-lop-cua-toi-phieu-theo-t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7607" y="2852278"/>
            <a:ext cx="2986887" cy="20678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200" b="0">
                <a:solidFill>
                  <a:srgbClr val="444444"/>
                </a:solidFill>
                <a:latin typeface="Be Vietnam Pro"/>
              </a:rPr>
              <a:t>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400" b="1">
                <a:solidFill>
                  <a:srgbClr val="0D47A1"/>
                </a:solidFill>
                <a:latin typeface="Be Vietnam Pro"/>
              </a:rPr>
              <a:t>③ Lớp học số: trình chiếu và giao bài bằng QR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4846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444444"/>
                </a:solidFill>
                <a:latin typeface="Be Vietnam Pro"/>
              </a:rPr>
              <a:t>• Trình chiếu kiểu trò chơi: đếm giờ, lật đáp án, gọi tên ngẫu nhiên, đọc to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444444"/>
                </a:solidFill>
                <a:latin typeface="Be Vietnam Pro"/>
              </a:rPr>
              <a:t>• Học sinh quét QR, chạm vào tên mình, không cần tài khoản, nhận đúng phiếu nhóm</a:t>
            </a:r>
          </a:p>
        </p:txBody>
      </p:sp>
      <p:pic>
        <p:nvPicPr>
          <p:cNvPr id="4" name="Picture 3" descr="05-lop-hoc-trinh-chie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3207469"/>
            <a:ext cx="1960778" cy="1357461"/>
          </a:xfrm>
          <a:prstGeom prst="rect">
            <a:avLst/>
          </a:prstGeom>
        </p:spPr>
      </p:pic>
      <p:pic>
        <p:nvPicPr>
          <p:cNvPr id="5" name="Picture 4" descr="20-hs-chon-t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498" y="1764538"/>
            <a:ext cx="1960778" cy="4243324"/>
          </a:xfrm>
          <a:prstGeom prst="rect">
            <a:avLst/>
          </a:prstGeom>
        </p:spPr>
      </p:pic>
      <p:pic>
        <p:nvPicPr>
          <p:cNvPr id="6" name="Picture 5" descr="21-hs-lam-ca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3716" y="1764538"/>
            <a:ext cx="1960778" cy="42433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200" b="0">
                <a:solidFill>
                  <a:srgbClr val="444444"/>
                </a:solidFill>
                <a:latin typeface="Be Vietnam Pro"/>
              </a:rPr>
              <a:t>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400" b="1">
                <a:solidFill>
                  <a:srgbClr val="0D47A1"/>
                </a:solidFill>
                <a:latin typeface="Be Vietnam Pro"/>
              </a:rPr>
              <a:t>④ Chấm và nhận xét theo TT27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4846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444444"/>
                </a:solidFill>
                <a:latin typeface="Be Vietnam Pro"/>
              </a:rPr>
              <a:t>• Chấm từ ảnh bài viết tay hoặc bài online; trắc nghiệm, đúng/sai, nối cột chấm ngay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444444"/>
                </a:solidFill>
                <a:latin typeface="Be Vietnam Pro"/>
              </a:rPr>
              <a:t>• Mức đạt theo quy tắc công khai: Chưa hoàn thành (M1 &lt; 50%) · Hoàn thành tốt (M1, M2 ≥ 80%, M3 ≥ 50%) · còn lại Hoàn thành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444444"/>
                </a:solidFill>
                <a:latin typeface="Be Vietnam Pro"/>
              </a:rPr>
              <a:t>• Giáo viên chấm tay hoặc sửa mọi kết quả</a:t>
            </a:r>
          </a:p>
        </p:txBody>
      </p:sp>
      <p:pic>
        <p:nvPicPr>
          <p:cNvPr id="4" name="Picture 3" descr="09-cham-bai-so-tong-h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786702"/>
            <a:ext cx="6065215" cy="41989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200" b="0">
                <a:solidFill>
                  <a:srgbClr val="444444"/>
                </a:solidFill>
                <a:latin typeface="Be Vietnam Pro"/>
              </a:rPr>
              <a:t>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400" b="1">
                <a:solidFill>
                  <a:srgbClr val="0D47A1"/>
                </a:solidFill>
                <a:latin typeface="Be Vietnam Pro"/>
              </a:rPr>
              <a:t>⑤ Phân tích lỗi và phiếu bổ trợ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4846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444444"/>
                </a:solidFill>
                <a:latin typeface="Be Vietnam Pro"/>
              </a:rPr>
              <a:t>• Tỉ lệ chưa đạt từng câu (ngưỡng 40%) và lỗi thường gặp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444444"/>
                </a:solidFill>
                <a:latin typeface="Be Vietnam Pro"/>
              </a:rPr>
              <a:t>• 1 nút: AI soạn phiếu bổ trợ đúng chỗ hổng kiến thức</a:t>
            </a:r>
          </a:p>
        </p:txBody>
      </p:sp>
      <p:pic>
        <p:nvPicPr>
          <p:cNvPr id="4" name="Picture 3" descr="10-phan-tich-loi-s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786702"/>
            <a:ext cx="6065215" cy="41989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200" b="0">
                <a:solidFill>
                  <a:srgbClr val="444444"/>
                </a:solidFill>
                <a:latin typeface="Be Vietnam Pro"/>
              </a:rPr>
              <a:t>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400" b="1">
                <a:solidFill>
                  <a:srgbClr val="0D47A1"/>
                </a:solidFill>
                <a:latin typeface="Be Vietnam Pro"/>
              </a:rPr>
              <a:t>⑥ Theo dõi tiến bộ và nhận xét học bạ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4846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444444"/>
                </a:solidFill>
                <a:latin typeface="Be Vietnam Pro"/>
              </a:rPr>
              <a:t>• Mức TT27 của từng em qua các lần đánh giá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444444"/>
                </a:solidFill>
                <a:latin typeface="Be Vietnam Pro"/>
              </a:rPr>
              <a:t>• AI gợi ý nhận xét cuối kỳ (không gửi tên học sinh); giáo viên duyệt, xuất Excel</a:t>
            </a:r>
          </a:p>
        </p:txBody>
      </p:sp>
      <p:pic>
        <p:nvPicPr>
          <p:cNvPr id="4" name="Picture 3" descr="12-tien-bo-bieu-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786702"/>
            <a:ext cx="6065215" cy="41989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200" b="0">
                <a:solidFill>
                  <a:srgbClr val="444444"/>
                </a:solidFill>
                <a:latin typeface="Be Vietnam Pro"/>
              </a:rPr>
              <a:t>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400" b="1">
                <a:solidFill>
                  <a:srgbClr val="0D47A1"/>
                </a:solidFill>
                <a:latin typeface="Be Vietnam Pro"/>
              </a:rPr>
              <a:t>Triển khai và kết quả thực tế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>
                <a:solidFill>
                  <a:srgbClr val="444444"/>
                </a:solidFill>
                <a:latin typeface="Be Vietnam Pro"/>
              </a:rPr>
              <a:t>• Phạm vi: lớp ⟦…⟧, ⟦…⟧ học sinh, ⟦…⟧ ngày, ⟦…⟧ đồng nghiệp dùng thử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444444"/>
                </a:solidFill>
                <a:latin typeface="Be Vietnam Pro"/>
              </a:rPr>
              <a:t>• Soạn phiếu: ⟦…⟧ → ⟦…⟧ phút · chấm và nhận xét: ⟦…⟧ → ⟦…⟧ phút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444444"/>
                </a:solidFill>
                <a:latin typeface="Be Vietnam Pro"/>
              </a:rPr>
              <a:t>• Câu yếu sau bổ trợ: chưa đạt ⟦…%⟧ → ⟦…%⟧ · học sinh hài lòng ⟦…%⟧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444444"/>
                </a:solidFill>
                <a:latin typeface="Be Vietnam Pro"/>
              </a:rPr>
              <a:t>• "⟦Trích phản hồi giáo viên⟧"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200" b="0">
                <a:solidFill>
                  <a:srgbClr val="444444"/>
                </a:solidFill>
                <a:latin typeface="Be Vietnam Pro"/>
              </a:rPr>
              <a:t>13/15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400" b="1">
                <a:solidFill>
                  <a:srgbClr val="0D47A1"/>
                </a:solidFill>
                <a:latin typeface="Be Vietnam Pro"/>
              </a:rPr>
              <a:t>AI có trách nhiệm · Bền vững và nhân rộng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>
                <a:solidFill>
                  <a:srgbClr val="444444"/>
                </a:solidFill>
                <a:latin typeface="Be Vietnam Pro"/>
              </a:rPr>
              <a:t>• AI đề xuất, giáo viên quyết định · kiểm định 2 lượt · không gửi tên học sinh cho AI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444444"/>
                </a:solidFill>
                <a:latin typeface="Be Vietnam Pro"/>
              </a:rPr>
              <a:t>• Học sinh không cần tài khoản · dữ liệu từng giáo viên tách riêng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444444"/>
                </a:solidFill>
                <a:latin typeface="Be Vietnam Pro"/>
              </a:rPr>
              <a:t>• 0 đồng · chạy trên trình duyệt · khối 1–5, 8 môn, 3 bộ sách · nhiều giáo viên dùng song song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444444"/>
                </a:solidFill>
                <a:latin typeface="Be Vietnam Pro"/>
              </a:rPr>
              <a:t>• Hướng phát triển: chia sẻ trong tổ chuyên môn, tin nhắn phụ huynh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200" b="0">
                <a:solidFill>
                  <a:srgbClr val="444444"/>
                </a:solidFill>
                <a:latin typeface="Be Vietnam Pro"/>
              </a:rPr>
              <a:t>14/15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400" b="1">
                <a:solidFill>
                  <a:srgbClr val="0D47A1"/>
                </a:solidFill>
                <a:latin typeface="Be Vietnam Pro"/>
              </a:rPr>
              <a:t>Kết luận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4846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444444"/>
                </a:solidFill>
                <a:latin typeface="Be Vietnam Pro"/>
              </a:rPr>
              <a:t>• Để mỗi học sinh được học vừa sức, và giáo viên có thêm thời gian cho từng em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444444"/>
                </a:solidFill>
                <a:latin typeface="Be Vietnam Pro"/>
              </a:rPr>
              <a:t>• Dùng thử: quét mã QR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444444"/>
                </a:solidFill>
                <a:latin typeface="Be Vietnam Pro"/>
              </a:rPr>
              <a:t>• Phần lập trình có sự hỗ trợ của công cụ AI Claude Code ⟦và …⟧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444444"/>
                </a:solidFill>
                <a:latin typeface="Be Vietnam Pro"/>
              </a:rPr>
              <a:t>• Trân trọng cảm ơn!</a:t>
            </a:r>
          </a:p>
        </p:txBody>
      </p:sp>
      <p:pic>
        <p:nvPicPr>
          <p:cNvPr id="4" name="Picture 3" descr="qr-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4480560"/>
            <a:ext cx="2011680" cy="2011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200" b="0">
                <a:solidFill>
                  <a:srgbClr val="444444"/>
                </a:solidFill>
                <a:latin typeface="Be Vietnam Pro"/>
              </a:rPr>
              <a:t>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