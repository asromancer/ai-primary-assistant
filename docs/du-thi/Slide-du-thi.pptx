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5"/>
    <p:sldId id="260" r:id="rId6"/>
    <p:sldId id="265" r:id="rId20"/>
    <p:sldId id="266" r:id="rId21"/>
    <p:sldId id="267" r:id="rId22"/>
    <p:sldId id="268" r:id="rId23"/>
    <p:sldId id="269" r:id="rId24"/>
    <p:sldId id="270" r:id="rId25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ptos Bold" panose="020B0604020202020204" charset="0"/>
      <p:regular r:id="rId12"/>
    </p:embeddedFont>
    <p:embeddedFont>
      <p:font typeface="Aptos Italics" panose="020B0604020202020204" charset="0"/>
      <p:regular r:id="rId13"/>
    </p:embeddedFont>
    <p:embeddedFont>
      <p:font typeface="Museo RMIT VN Bold" panose="020B0604020202020204" charset="0"/>
      <p:regular r:id="rId14"/>
    </p:embeddedFont>
    <p:embeddedFont>
      <p:font typeface="Museo RMIT VN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156" y="3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245707"/>
            <a:ext cx="16230600" cy="3012805"/>
          </a:xfrm>
          <a:custGeom>
            <a:avLst/>
            <a:gdLst/>
            <a:ahLst/>
            <a:cxnLst/>
            <a:rect l="l" t="t" r="r" b="b"/>
            <a:pathLst>
              <a:path w="16230600" h="3012805">
                <a:moveTo>
                  <a:pt x="0" y="0"/>
                </a:moveTo>
                <a:lnTo>
                  <a:pt x="16230600" y="0"/>
                </a:lnTo>
                <a:lnTo>
                  <a:pt x="16230600" y="3012806"/>
                </a:lnTo>
                <a:lnTo>
                  <a:pt x="0" y="3012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3" name="Group 3"/>
          <p:cNvGrpSpPr/>
          <p:nvPr/>
        </p:nvGrpSpPr>
        <p:grpSpPr>
          <a:xfrm>
            <a:off x="4396352" y="6624086"/>
            <a:ext cx="2826394" cy="2255836"/>
            <a:chOff x="0" y="0"/>
            <a:chExt cx="3768525" cy="3007781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3768525" cy="435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8"/>
                </a:lnSpc>
              </a:pPr>
              <a:r>
                <a:rPr lang="en-US" sz="2156" b="1" spc="79">
                  <a:solidFill>
                    <a:srgbClr val="FFFFFF"/>
                  </a:solidFill>
                  <a:latin typeface="Museo RMIT VN Bold"/>
                  <a:ea typeface="Museo RMIT VN Bold"/>
                  <a:cs typeface="Museo RMIT VN Bold"/>
                  <a:sym typeface="Museo RMIT VN Bold"/>
                </a:rPr>
                <a:t>Giáo viên thực hiện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46968" y="2572708"/>
              <a:ext cx="3022422" cy="435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88"/>
                </a:lnSpc>
              </a:pPr>
              <a:r>
                <a:rPr lang="en-US" sz="2156">
                  <a:solidFill>
                    <a:srgbClr val="FFEA00"/>
                  </a:solidFill>
                  <a:latin typeface="Museo RMIT VN Light"/>
                  <a:ea typeface="Museo RMIT VN Light"/>
                  <a:cs typeface="Museo RMIT VN Light"/>
                  <a:sym typeface="Museo RMIT VN Light"/>
                </a:rPr>
                <a:t>⟦Họ và tên⟧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589229" y="5696988"/>
            <a:ext cx="1654581" cy="1854195"/>
          </a:xfrm>
          <a:custGeom>
            <a:avLst/>
            <a:gdLst/>
            <a:ahLst/>
            <a:cxnLst/>
            <a:rect l="l" t="t" r="r" b="b"/>
            <a:pathLst>
              <a:path w="1654581" h="1854195">
                <a:moveTo>
                  <a:pt x="0" y="0"/>
                </a:moveTo>
                <a:lnTo>
                  <a:pt x="1654581" y="0"/>
                </a:lnTo>
                <a:lnTo>
                  <a:pt x="1654581" y="1854195"/>
                </a:lnTo>
                <a:lnTo>
                  <a:pt x="0" y="185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18288000" cy="2880360"/>
          </a:xfrm>
          <a:custGeom>
            <a:avLst/>
            <a:gdLst/>
            <a:ahLst/>
            <a:cxnLst/>
            <a:rect l="l" t="t" r="r" b="b"/>
            <a:pathLst>
              <a:path w="18288000" h="2880360">
                <a:moveTo>
                  <a:pt x="0" y="0"/>
                </a:moveTo>
                <a:lnTo>
                  <a:pt x="18288000" y="0"/>
                </a:lnTo>
                <a:lnTo>
                  <a:pt x="18288000" y="2880360"/>
                </a:lnTo>
                <a:lnTo>
                  <a:pt x="0" y="28803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Freeform 10"/>
          <p:cNvSpPr/>
          <p:nvPr/>
        </p:nvSpPr>
        <p:spPr>
          <a:xfrm>
            <a:off x="0" y="0"/>
            <a:ext cx="18288000" cy="2880360"/>
          </a:xfrm>
          <a:custGeom>
            <a:avLst/>
            <a:gdLst/>
            <a:ahLst/>
            <a:cxnLst/>
            <a:rect l="l" t="t" r="r" b="b"/>
            <a:pathLst>
              <a:path w="18288000" h="2880360">
                <a:moveTo>
                  <a:pt x="0" y="0"/>
                </a:moveTo>
                <a:lnTo>
                  <a:pt x="18288000" y="0"/>
                </a:lnTo>
                <a:lnTo>
                  <a:pt x="18288000" y="2880360"/>
                </a:lnTo>
                <a:lnTo>
                  <a:pt x="0" y="28803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TextBox 11"/>
          <p:cNvSpPr txBox="1"/>
          <p:nvPr/>
        </p:nvSpPr>
        <p:spPr>
          <a:xfrm>
            <a:off x="1028700" y="4083121"/>
            <a:ext cx="16230600" cy="96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0"/>
              </a:lnSpc>
            </a:pPr>
            <a:r>
              <a:rPr lang="en-US" sz="3400" b="1" spc="-322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TRỢ LÝ GIẢNG DẠY – PHIẾU BÀI TẬP PHÂN HÓA VÀ ĐÁNH GIÁ HỌC SINH TIỂU HỌC THEO THÔNG TƯ 27 BẰNG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95088" y="6718687"/>
            <a:ext cx="722968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spc="9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Đơn vị công tác:</a:t>
            </a:r>
          </a:p>
          <a:p>
            <a:pPr algn="l">
              <a:lnSpc>
                <a:spcPts val="2999"/>
              </a:lnSpc>
            </a:pPr>
            <a:r>
              <a:rPr lang="en-US" sz="2499" b="1" spc="9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⟦Trường Tiểu học …⟧</a:t>
            </a:r>
          </a:p>
          <a:p>
            <a:pPr algn="l">
              <a:lnSpc>
                <a:spcPts val="2999"/>
              </a:lnSpc>
            </a:pPr>
            <a:r>
              <a:rPr lang="en-US" sz="2499" b="1" spc="9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⟦Địa chỉ trường⟧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5088" y="8021732"/>
            <a:ext cx="455780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Email:</a:t>
            </a:r>
          </a:p>
          <a:p>
            <a:pPr marL="0" lvl="0" indent="0" algn="just">
              <a:lnSpc>
                <a:spcPts val="29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⟦email giáo viên⟧</a:t>
            </a:r>
          </a:p>
        </p:txBody>
      </p:sp>
      <p:sp>
        <p:nvSpPr>
          <p:cNvPr id="14" name="Oval 13"/>
          <p:cNvSpPr/>
          <p:nvPr/>
        </p:nvSpPr>
        <p:spPr>
          <a:xfrm>
            <a:off x="5036466" y="7022555"/>
            <a:ext cx="1357038" cy="1295242"/>
          </a:xfrm>
          <a:prstGeom prst="ellipse">
            <a:avLst/>
          </a:prstGeom>
          <a:solidFill>
            <a:srgbClr val="E3E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000054"/>
                </a:solidFill>
              </a:rPr>
              <a:t>⟦Ảnh giáo viên⟧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00000"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6952685" cy="8153400"/>
            <a:chOff x="0" y="0"/>
            <a:chExt cx="1831160" cy="21473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1160" cy="2147398"/>
            </a:xfrm>
            <a:custGeom>
              <a:avLst/>
              <a:gdLst/>
              <a:ahLst/>
              <a:cxnLst/>
              <a:rect l="l" t="t" r="r" b="b"/>
              <a:pathLst>
                <a:path w="1831160" h="2147398">
                  <a:moveTo>
                    <a:pt x="0" y="0"/>
                  </a:moveTo>
                  <a:lnTo>
                    <a:pt x="1831160" y="0"/>
                  </a:lnTo>
                  <a:lnTo>
                    <a:pt x="1831160" y="2147398"/>
                  </a:lnTo>
                  <a:lnTo>
                    <a:pt x="0" y="21473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831160" cy="2080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5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976477" y="895350"/>
            <a:ext cx="7606673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DÀN Ý SLIDE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93948" y="9428646"/>
            <a:ext cx="6889202" cy="62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Giải Thưởng Tiên Phong Ứng Dụng AI Trong Giáo Dục Việt Nam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02422" y="1856514"/>
            <a:ext cx="6733407" cy="114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240"/>
              </a:lnSpc>
              <a:buFont typeface="Arial"/>
              <a:buChar char="•"/>
            </a:pPr>
            <a:r>
              <a:rPr lang="en-US" sz="24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Bối cảnh và vấn đề</a:t>
            </a:r>
          </a:p>
          <a:p>
            <a:pPr marL="653460" lvl="1" indent="-326730" algn="l">
              <a:lnSpc>
                <a:spcPts val="3240"/>
              </a:lnSpc>
              <a:buFont typeface="Arial"/>
              <a:buChar char="•"/>
            </a:pPr>
            <a:r>
              <a:rPr lang="en-US" sz="24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Ý tưởng và giải pháp: vòng khép kín 6 bước</a:t>
            </a:r>
          </a:p>
          <a:p>
            <a:pPr marL="653460" lvl="1" indent="-326730" algn="l">
              <a:lnSpc>
                <a:spcPts val="3240"/>
              </a:lnSpc>
              <a:buFont typeface="Arial"/>
              <a:buChar char="•"/>
            </a:pPr>
            <a:r>
              <a:rPr lang="en-US" sz="24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Sản phẩm: soạn – kiểm định – dạy – chấm – bổ trợ – học bạ</a:t>
            </a:r>
          </a:p>
          <a:p>
            <a:pPr marL="653460" lvl="1" indent="-326730" algn="l">
              <a:lnSpc>
                <a:spcPts val="3240"/>
              </a:lnSpc>
              <a:buFont typeface="Arial"/>
              <a:buChar char="•"/>
            </a:pPr>
            <a:r>
              <a:rPr lang="en-US" sz="24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AI có trách nhiệm</a:t>
            </a:r>
          </a:p>
          <a:p>
            <a:pPr marL="653460" lvl="1" indent="-326730" algn="l">
              <a:lnSpc>
                <a:spcPts val="3240"/>
              </a:lnSpc>
              <a:buFont typeface="Arial"/>
              <a:buChar char="•"/>
            </a:pPr>
            <a:r>
              <a:rPr lang="en-US" sz="24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Triển khai thực tế</a:t>
            </a:r>
          </a:p>
          <a:p>
            <a:pPr marL="653460" lvl="1" indent="-326730" algn="l">
              <a:lnSpc>
                <a:spcPts val="3240"/>
              </a:lnSpc>
              <a:buFont typeface="Arial"/>
              <a:buChar char="•"/>
            </a:pPr>
            <a:r>
              <a:rPr lang="en-US" sz="24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Kết quả và tác động</a:t>
            </a:r>
          </a:p>
          <a:p>
            <a:pPr marL="653460" lvl="1" indent="-326730" algn="l">
              <a:lnSpc>
                <a:spcPts val="3240"/>
              </a:lnSpc>
              <a:buFont typeface="Arial"/>
              <a:buChar char="•"/>
            </a:pPr>
            <a:r>
              <a:rPr lang="en-US" sz="24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Thảo luận và tổng kết</a:t>
            </a:r>
          </a:p>
          <a:p>
            <a:pPr marL="653460" lvl="1" indent="-326730" algn="l">
              <a:lnSpc>
                <a:spcPts val="3240"/>
              </a:lnSpc>
              <a:buFont typeface="Arial"/>
              <a:buChar char="•"/>
            </a:pPr>
            <a:r>
              <a:rPr lang="en-US" sz="24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Tài liệu đính kèm</a:t>
            </a:r>
          </a:p>
        </p:txBody>
      </p:sp>
      <p:pic>
        <p:nvPicPr>
          <p:cNvPr id="10" name="Picture 9" descr="so-do-vong-khep-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" y="1903377"/>
            <a:ext cx="6404045" cy="64040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Box 3"/>
          <p:cNvSpPr txBox="1"/>
          <p:nvPr/>
        </p:nvSpPr>
        <p:spPr>
          <a:xfrm>
            <a:off x="882811" y="1005632"/>
            <a:ext cx="7606673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BỐI CẢNH VÀ VẤN ĐỀ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4375" y="2027149"/>
            <a:ext cx="16868775" cy="694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780"/>
              </a:lnSpc>
              <a:buFont typeface="Arial"/>
              <a:buChar char="•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Lớp ⟦…⟧ có ⟦sĩ số⟧ học sinh, trình độ chênh lệch rõ; đối tượng hưởng lợi: </a:t>
            </a:r>
            <a:r>
              <a:rPr lang="en-US" sz="28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học sinh và giáo viên tiểu học</a:t>
            </a: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  <a:p>
            <a:pPr marL="653460" lvl="1" indent="-326730" algn="l">
              <a:lnSpc>
                <a:spcPts val="3780"/>
              </a:lnSpc>
              <a:buFont typeface="Arial"/>
              <a:buChar char="•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Thông tư 27/2020: đánh giá thường xuyên bằng nhận xét; câu hỏi, bài tập theo </a:t>
            </a:r>
            <a:r>
              <a:rPr lang="en-US" sz="28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3 mức</a:t>
            </a: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 (nhận biết – kết nối – vận dụng). Chương trình GDPT 2018 đòi hỏi dạy học phân hóa.</a:t>
            </a:r>
          </a:p>
          <a:p>
            <a:pPr marL="653460" lvl="1" indent="-326730" algn="l">
              <a:lnSpc>
                <a:spcPts val="3780"/>
              </a:lnSpc>
              <a:buFont typeface="Arial"/>
              <a:buChar char="•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Dạy phân hóa tốn thời gian: soạn 3 mức kèm đáp án, in theo nhóm, chấm, viết nhận xét từng em.</a:t>
            </a:r>
          </a:p>
          <a:p>
            <a:pPr marL="1306919" lvl="2" indent="-435640" algn="l">
              <a:lnSpc>
                <a:spcPts val="3780"/>
              </a:lnSpc>
              <a:buFont typeface="Arial"/>
              <a:buChar char="⚬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Soạn 1 phiếu phân hóa có đáp án ≈ ⟦…⟧ phút; chấm và nhận xét 1 lớp ≈ ⟦…⟧ phút (số liệu khảo sát).</a:t>
            </a:r>
          </a:p>
          <a:p>
            <a:pPr marL="653460" lvl="1" indent="-326730" algn="l">
              <a:lnSpc>
                <a:spcPts val="3780"/>
              </a:lnSpc>
              <a:buFont typeface="Arial"/>
              <a:buChar char="•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Chatbot AI phổ thông trả lời rời rạc: không theo mẫu TT27, không tự kiểm tra đáp án, không nối với chấm bài và theo dõi tiến bộ.</a:t>
            </a:r>
          </a:p>
          <a:p>
            <a:pPr marL="653460" lvl="1" indent="-326730" algn="l">
              <a:lnSpc>
                <a:spcPts val="3780"/>
              </a:lnSpc>
              <a:buFont typeface="Arial"/>
              <a:buChar char="•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Kết quả chấm nằm trên giấy, khó phân tích để dạy bù kịp thời.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8919749"/>
            <a:ext cx="18288000" cy="1367251"/>
          </a:xfrm>
          <a:custGeom>
            <a:avLst/>
            <a:gdLst/>
            <a:ahLst/>
            <a:cxnLst/>
            <a:rect l="l" t="t" r="r" b="b"/>
            <a:pathLst>
              <a:path w="18288000" h="1367251">
                <a:moveTo>
                  <a:pt x="0" y="0"/>
                </a:moveTo>
                <a:lnTo>
                  <a:pt x="18288000" y="0"/>
                </a:lnTo>
                <a:lnTo>
                  <a:pt x="18288000" y="1367251"/>
                </a:lnTo>
                <a:lnTo>
                  <a:pt x="0" y="136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2385"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4375" y="2027149"/>
            <a:ext cx="9692640" cy="646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375"/>
              </a:lnSpc>
              <a:buFont typeface="Arial"/>
              <a:buChar char="•"/>
            </a:pPr>
            <a:r>
              <a:rPr lang="en-US" sz="25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Vòng khép kín 6 bước theo TT27</a:t>
            </a: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: soạn phiếu 3 mức → AI kiểm định → dạy và giao bài → chấm và nhận xét → phân tích lỗi, phiếu bổ trợ → tiến bộ và học bạ.</a:t>
            </a:r>
          </a:p>
          <a:p>
            <a:pPr marL="653460" lvl="1" indent="-326730" algn="l">
              <a:lnSpc>
                <a:spcPts val="3375"/>
              </a:lnSpc>
              <a:buFont typeface="Arial"/>
              <a:buChar char="•"/>
            </a:pPr>
            <a:r>
              <a:rPr lang="en-US" sz="25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AI đề xuất – giáo viên quyết định</a:t>
            </a: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 ở mọi bước.</a:t>
            </a:r>
          </a:p>
          <a:p>
            <a:pPr marL="653460" lvl="1" indent="-326730" algn="l">
              <a:lnSpc>
                <a:spcPts val="3375"/>
              </a:lnSpc>
              <a:buFont typeface="Arial"/>
              <a:buChar char="•"/>
            </a:pP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Công cụ: </a:t>
            </a:r>
            <a:r>
              <a:rPr lang="en-US" sz="25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Google Gemini</a:t>
            </a: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 (đọc ảnh sách giáo khoa và ảnh bài viết tay, tạo nội dung theo khung cấu trúc) · ứng dụng web Streamlit · dữ liệu Supabase · đăng nhập Google.</a:t>
            </a:r>
          </a:p>
          <a:p>
            <a:pPr marL="653460" lvl="1" indent="-326730" algn="l">
              <a:lnSpc>
                <a:spcPts val="3375"/>
              </a:lnSpc>
              <a:buFont typeface="Arial"/>
              <a:buChar char="•"/>
            </a:pP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Vì sao chọn AI: làm nhanh phần lặp lại (ra đề, tính đáp án, định dạng, chấm, nhận xét), đọc được chữ viết tay, phân tích lỗi cả lớp ngay sau khi chấm.</a:t>
            </a:r>
          </a:p>
          <a:p>
            <a:pPr marL="653460" lvl="1" indent="-326730" algn="l">
              <a:lnSpc>
                <a:spcPts val="3375"/>
              </a:lnSpc>
              <a:buFont typeface="Arial"/>
              <a:buChar char="•"/>
            </a:pP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Chi phí </a:t>
            </a:r>
            <a:r>
              <a:rPr lang="en-US" sz="25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0 đồng</a:t>
            </a: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; chạy trên trình duyệt máy tính, máy chiếu, điện thoại.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Box 4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TextBox 6"/>
          <p:cNvSpPr txBox="1"/>
          <p:nvPr/>
        </p:nvSpPr>
        <p:spPr>
          <a:xfrm>
            <a:off x="882811" y="1005632"/>
            <a:ext cx="13304664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Ý TƯỞNG VÀ GIẢI PHÁP</a:t>
            </a:r>
          </a:p>
        </p:txBody>
      </p:sp>
      <p:pic>
        <p:nvPicPr>
          <p:cNvPr id="7" name="Picture 6" descr="so-do-vong-khep-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37360"/>
            <a:ext cx="6949440" cy="6949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2811" y="1005632"/>
            <a:ext cx="7606673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TRIỂN KHAI THỰC TẾ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16868775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780"/>
              </a:lnSpc>
              <a:buFont typeface="Arial"/>
              <a:buChar char="•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Hình thức: ứng dụng web &lt;https://tro-ly-giang-day.streamlit.app&gt; dùng trong soạn bài, giờ dạy và đánh giá.</a:t>
            </a:r>
          </a:p>
          <a:p>
            <a:pPr marL="1306919" lvl="2" indent="-435640" algn="l">
              <a:lnSpc>
                <a:spcPts val="3780"/>
              </a:lnSpc>
              <a:buFont typeface="Arial"/>
              <a:buChar char="⚬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Soạn phiếu trước giờ học; in phiếu nhóm hoặc giao bài bằng QR; chấm và phân tích lỗi sau giờ học; dạy bổ trợ.</a:t>
            </a:r>
          </a:p>
          <a:p>
            <a:pPr marL="653460" lvl="1" indent="-326730" algn="l">
              <a:lnSpc>
                <a:spcPts val="3780"/>
              </a:lnSpc>
              <a:buFont typeface="Arial"/>
              <a:buChar char="•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Thời gian: ⟦từ …/…/2026 đến nay⟧ (thí điểm ⟦…⟧ ngày).</a:t>
            </a:r>
          </a:p>
          <a:p>
            <a:pPr marL="653460" lvl="1" indent="-326730" algn="l">
              <a:lnSpc>
                <a:spcPts val="3780"/>
              </a:lnSpc>
              <a:buFont typeface="Arial"/>
              <a:buChar char="•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Đối tượng: lớp ⟦…⟧ – ⟦…⟧ học sinh, môn ⟦…⟧; ⟦…⟧ đồng nghiệp dùng thử.</a:t>
            </a:r>
          </a:p>
          <a:p>
            <a:pPr marL="653460" lvl="1" indent="-326730" algn="l">
              <a:lnSpc>
                <a:spcPts val="3780"/>
              </a:lnSpc>
              <a:buFont typeface="Arial"/>
              <a:buChar char="•"/>
            </a:pPr>
            <a:r>
              <a:rPr lang="en-US" sz="28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Số lượng sử dụng: ⟦…⟧ phiếu đã soạn, ⟦…⟧ bài đã chấm (thống kê trong app).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2811" y="1005632"/>
            <a:ext cx="1457186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KẾT QUẢ VÀ TÁC ĐỘNG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16868775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Kết quả thí điểm bước đầu (⟦…⟧ ngày, ⟦…⟧ học sinh, ⟦…⟧ giáo viên):</a:t>
            </a:r>
          </a:p>
          <a:p>
            <a:pPr marL="1306919" lvl="2" indent="-435640" algn="l">
              <a:lnSpc>
                <a:spcPts val="3645"/>
              </a:lnSpc>
              <a:buFont typeface="Arial"/>
              <a:buChar char="⚬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Giáo viên – soạn 1 phiếu phân hóa: ⟦…⟧ → ⟦…⟧ phút; chấm và nhận xét 1 lớp: ⟦…⟧ → ⟦…⟧ phút.</a:t>
            </a:r>
          </a:p>
          <a:p>
            <a:pPr marL="1306919" lvl="2" indent="-435640" algn="l">
              <a:lnSpc>
                <a:spcPts val="3645"/>
              </a:lnSpc>
              <a:buFont typeface="Arial"/>
              <a:buChar char="⚬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AI kiểm định phát hiện ⟦…⟧ lỗi; giáo viên sửa thêm ⟦…⟧ lỗi (minh chứng giáo viên duyệt kết quả).</a:t>
            </a:r>
          </a:p>
          <a:p>
            <a:pPr marL="1306919" lvl="2" indent="-435640" algn="l">
              <a:lnSpc>
                <a:spcPts val="3645"/>
              </a:lnSpc>
              <a:buFont typeface="Arial"/>
              <a:buChar char="⚬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Học sinh – tỉ lệ chưa đạt ở câu yếu: ⟦…%⟧ → ⟦…%⟧ sau 1 buổi bổ trợ; hoàn thành bài ⟦…%⟧.</a:t>
            </a:r>
          </a:p>
          <a:p>
            <a:pPr marL="1306919" lvl="2" indent="-435640" algn="l">
              <a:lnSpc>
                <a:spcPts val="3645"/>
              </a:lnSpc>
              <a:buFont typeface="Arial"/>
              <a:buChar char="⚬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⟦…%⟧ học sinh thích làm phiếu/làm bài trên app; giáo viên đánh giá ⟦…⟧/5.</a:t>
            </a:r>
          </a:p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Phản hồi: "⟦trích nguyên văn giáo viên/học sinh⟧".</a:t>
            </a:r>
          </a:p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Minh chứng: bảng khảo sát, ảnh phiếu và bài làm (đã che tên), thống kê sử dụng (xem trang Tài liệu đính kèm).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919749"/>
            <a:ext cx="18288000" cy="1367251"/>
          </a:xfrm>
          <a:custGeom>
            <a:avLst/>
            <a:gdLst/>
            <a:ahLst/>
            <a:cxnLst/>
            <a:rect l="l" t="t" r="r" b="b"/>
            <a:pathLst>
              <a:path w="18288000" h="1367251">
                <a:moveTo>
                  <a:pt x="0" y="0"/>
                </a:moveTo>
                <a:lnTo>
                  <a:pt x="18288000" y="0"/>
                </a:lnTo>
                <a:lnTo>
                  <a:pt x="18288000" y="1367251"/>
                </a:lnTo>
                <a:lnTo>
                  <a:pt x="0" y="136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2385"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2811" y="1005692"/>
            <a:ext cx="7606673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THẢO LUẬN VÀ TỔNG KẾT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1940442"/>
            <a:ext cx="16868775" cy="694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So với cách cũ và chatbot AI phổ thông: một </a:t>
            </a:r>
            <a:r>
              <a:rPr lang="en-US" sz="27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quy trình hoàn chỉnh theo TT27</a:t>
            </a: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, có kiểm định, phân hóa không dán nhãn, nối liền từ soạn phiếu đến học bạ.</a:t>
            </a:r>
          </a:p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Bền vững, nhân rộng: </a:t>
            </a:r>
            <a:r>
              <a:rPr lang="en-US" sz="27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0 đồng</a:t>
            </a: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; chạy trên trình duyệt; khối 1–5, 8 môn, 3 bộ sách; nhiều giáo viên dùng song song; có hướng dẫn chuyển giao.</a:t>
            </a:r>
          </a:p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Giới hạn: gói miễn phí giới hạn lượt AI; AI vẫn có thể sai nên luôn cần giáo viên duyệt; chọn tên khi làm bài online chưa ngăn được làm hộ.</a:t>
            </a:r>
          </a:p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Định hướng: chia sẻ phiếu trong tổ chuyên môn; tin nhắn phụ huynh từ kết quả đánh giá; tiếp tục theo dõi số liệu trong học kỳ I.</a:t>
            </a:r>
          </a:p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Phần lập trình được thực hiện với sự hỗ trợ của công cụ AI Claude Code ⟦và …⟧.</a:t>
            </a:r>
            <a:endParaRPr lang="en-US" sz="3026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2811" y="1005632"/>
            <a:ext cx="14847484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TÀI LIỆU/THÔNG TIN ĐÍNH KÈM (NẾU CÓ)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11338560" cy="676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375"/>
              </a:lnSpc>
              <a:buFont typeface="Arial"/>
              <a:buChar char="•"/>
            </a:pP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Dùng thử sản phẩm (dành cho Ban Giám khảo): ⟦https://tro-ly-giang-day.streamlit.app/?demo=MA_DEMO⟧</a:t>
            </a:r>
          </a:p>
          <a:p>
            <a:pPr marL="653460" lvl="1" indent="-326730" algn="l">
              <a:lnSpc>
                <a:spcPts val="3375"/>
              </a:lnSpc>
              <a:buFont typeface="Arial"/>
              <a:buChar char="•"/>
            </a:pP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Video thuyết trình: ⟦link Google Drive video⟧</a:t>
            </a:r>
          </a:p>
          <a:p>
            <a:pPr marL="653460" lvl="1" indent="-326730" algn="l">
              <a:lnSpc>
                <a:spcPts val="3375"/>
              </a:lnSpc>
              <a:buFont typeface="Arial"/>
              <a:buChar char="•"/>
            </a:pP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Trang chủ: https://tro-ly-giang-day.streamlit.app</a:t>
            </a:r>
          </a:p>
          <a:p>
            <a:pPr marL="653460" lvl="1" indent="-326730" algn="l">
              <a:lnSpc>
                <a:spcPts val="3375"/>
              </a:lnSpc>
              <a:buFont typeface="Arial"/>
              <a:buChar char="•"/>
            </a:pP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Thư mục minh chứng (khảo sát, ảnh, thống kê): ⟦link Google Drive công khai, rút gọn bằng tinyurl/bitly⟧</a:t>
            </a:r>
          </a:p>
          <a:p>
            <a:pPr marL="653460" lvl="1" indent="-326730" algn="l">
              <a:lnSpc>
                <a:spcPts val="3375"/>
              </a:lnSpc>
              <a:buFont typeface="Arial"/>
              <a:buChar char="•"/>
            </a:pPr>
            <a:r>
              <a:rPr lang="en-US" sz="25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Tài liệu tham khảo: Thông tư 27/2020/TT-BGDĐT; Chương trình GDPT 2018.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0" y="8919749"/>
            <a:ext cx="18288000" cy="1367251"/>
          </a:xfrm>
          <a:custGeom>
            <a:avLst/>
            <a:gdLst/>
            <a:ahLst/>
            <a:cxnLst/>
            <a:rect l="l" t="t" r="r" b="b"/>
            <a:pathLst>
              <a:path w="18288000" h="1367251">
                <a:moveTo>
                  <a:pt x="0" y="0"/>
                </a:moveTo>
                <a:lnTo>
                  <a:pt x="18288000" y="0"/>
                </a:lnTo>
                <a:lnTo>
                  <a:pt x="18288000" y="1367251"/>
                </a:lnTo>
                <a:lnTo>
                  <a:pt x="0" y="136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2385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12984480" y="2011680"/>
            <a:ext cx="1920240" cy="1920240"/>
          </a:xfrm>
          <a:prstGeom prst="rect">
            <a:avLst/>
          </a:prstGeom>
          <a:noFill/>
          <a:ln>
            <a:solidFill>
              <a:srgbClr val="00005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54"/>
                </a:solidFill>
              </a:rPr>
              <a:t>⟦tạo QR⟧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0" y="26974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54"/>
                </a:solidFill>
              </a:rPr>
              <a:t>Dùng thử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84480" y="4343400"/>
            <a:ext cx="1920240" cy="1920240"/>
          </a:xfrm>
          <a:prstGeom prst="rect">
            <a:avLst/>
          </a:prstGeom>
          <a:noFill/>
          <a:ln>
            <a:solidFill>
              <a:srgbClr val="00005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54"/>
                </a:solidFill>
              </a:rPr>
              <a:t>⟦tạo QR⟧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0" y="5029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54"/>
                </a:solidFill>
              </a:rPr>
              <a:t>Video</a:t>
            </a:r>
          </a:p>
        </p:txBody>
      </p:sp>
      <p:pic>
        <p:nvPicPr>
          <p:cNvPr id="10" name="Picture 9" descr="qr-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0" y="6675120"/>
            <a:ext cx="1920240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0" y="7360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54"/>
                </a:solidFill>
              </a:rPr>
              <a:t>Trang chủ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2811" y="1005632"/>
            <a:ext cx="155448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① SOẠN PHIẾU · ② AI KIỂM ĐỊNH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7589520" cy="694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Soạn từ </a:t>
            </a: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tên bài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 hoặc </a:t>
            </a: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ảnh chụp trang sách giáo khoa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; chọn lớp, môn, bộ sách, thời lượng.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Phiếu 3 mức TT27 kèm đáp án, hướng dẫn chấm, ma trận, yêu cầu cần đạt.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Đáp án chuẩn tiểu học: Bài giải – câu lời giải – phép tính (đơn vị) – Đáp số.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Lượt AI thứ hai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 đóng vai tổ trưởng chuyên môn: tự giải lại từng câu, soát đáp án sai, câu lệch mức.</a:t>
            </a:r>
          </a:p>
          <a:p>
            <a:pPr marL="1306919" lvl="2" indent="-435640" algn="l">
              <a:lnSpc>
                <a:spcPts val="3105"/>
              </a:lnSpc>
              <a:buFont typeface="Arial"/>
              <a:buChar char="⚬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Thí điểm: phát hiện ⟦…⟧ lỗi / ⟦…⟧ phiếu.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pic>
        <p:nvPicPr>
          <p:cNvPr id="7" name="Picture 6" descr="02-soan-phieu-kiem-di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784209"/>
            <a:ext cx="4389120" cy="3038621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pic>
        <p:nvPicPr>
          <p:cNvPr id="8" name="Picture 7" descr="03-gop-y-kiem-din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1640" y="3784209"/>
            <a:ext cx="4389120" cy="3038621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2811" y="1005632"/>
            <a:ext cx="155448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③ PHÂN HÓA KHÔNG DÁN NHÃN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7589520" cy="694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Một phiếu tự tách thành </a:t>
            </a: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Phiếu Xanh / Cam / Tím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 cho 3 nhóm; tên màu trung tính, học sinh không biết mình ở "mức" nào.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Đề A/B chống nhìn bài; phiếu in sẵn tên từng em, đúng màu nhóm.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In ngay khổ A4 hoặc tải Word; cỡ chữ lớn cho lớp 1–2.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pic>
        <p:nvPicPr>
          <p:cNvPr id="7" name="Picture 6" descr="31-phieu-xa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99627"/>
            <a:ext cx="4389120" cy="6207785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pic>
        <p:nvPicPr>
          <p:cNvPr id="8" name="Picture 7" descr="13-lop-cua-toi-phieu-theo-t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1640" y="3784209"/>
            <a:ext cx="4389120" cy="3038621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2811" y="1005632"/>
            <a:ext cx="155448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③ LỚP HỌC SỐ: TRÌNH CHIẾU VÀ GIAO BÀI BẰNG QR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7589520" cy="694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Trình chiếu từng câu kiểu trò chơi: đếm giờ, lật đáp án, gọi tên ngẫu nhiên, đọc to câu hỏi.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Giao bài online: chiếu mã QR, học sinh </a:t>
            </a: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chạm vào tên mình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, không cần tài khoản.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Mỗi em tự nhận </a:t>
            </a: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đúng phiếu của nhóm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; câu trắc nghiệm, đúng/sai, nối cột được chấm ngay.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Giáo viên theo dõi trực tiếp số bài đã nộp.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pic>
        <p:nvPicPr>
          <p:cNvPr id="7" name="Picture 6" descr="05-lop-hoc-trinh-chi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306472"/>
            <a:ext cx="2880360" cy="1994095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pic>
        <p:nvPicPr>
          <p:cNvPr id="8" name="Picture 7" descr="20-hs-chon-t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0" y="2186823"/>
            <a:ext cx="2880360" cy="6233394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pic>
        <p:nvPicPr>
          <p:cNvPr id="9" name="Picture 8" descr="21-hs-lam-ca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0" y="2186823"/>
            <a:ext cx="2880360" cy="6233394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2811" y="1005632"/>
            <a:ext cx="155448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④ CHẤM, NHẬN XÉT TT27 · ⑤ PHÂN TÍCH LỖI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7589520" cy="694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Chấm từ </a:t>
            </a: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ảnh chụp bài viết tay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 hoặc bài làm online; AI viết nhận xét theo tinh thần TT27.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Mức đạt theo </a:t>
            </a: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quy tắc công khai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: Chưa hoàn thành (Mức 1 &lt; 50%) · Hoàn thành tốt (Mức 1, Mức 2 ≥ 80%, Mức 3 ≥ 50%) · còn lại là Hoàn thành.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Giáo viên </a:t>
            </a: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chấm tay hoặc sửa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 mọi kết quả.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Biểu đồ tỉ lệ chưa đạt từng câu và lỗi thường gặp; </a:t>
            </a: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một nút soạn phiếu bổ trợ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 đúng chỗ hổng.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pic>
        <p:nvPicPr>
          <p:cNvPr id="7" name="Picture 6" descr="09-cham-bai-so-tong-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784209"/>
            <a:ext cx="4389120" cy="3038621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pic>
        <p:nvPicPr>
          <p:cNvPr id="8" name="Picture 7" descr="10-phan-tich-loi-s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1640" y="3784209"/>
            <a:ext cx="4389120" cy="3038621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2811" y="1005632"/>
            <a:ext cx="155448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⑥ THEO DÕI TIẾN BỘ VÀ NHẬN XÉT HỌC BẠ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7589520" cy="694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Mức TT27 của từng em qua các lần đánh giá; biểu đồ tiến bộ từng em.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AI gợi ý nhận xét cuối kỳ dựa trên cả quá trình (</a:t>
            </a:r>
            <a:r>
              <a:rPr lang="en-US" sz="23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không gửi tên học sinh</a:t>
            </a: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); giáo viên duyệt, xuất Excel.</a:t>
            </a:r>
          </a:p>
          <a:p>
            <a:pPr marL="653460" lvl="1" indent="-326730" algn="l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Thư viện phiếu tự lưu, nhiều lớp, dữ liệu riêng cho từng giáo viên.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pic>
        <p:nvPicPr>
          <p:cNvPr id="7" name="Picture 6" descr="12-tien-bo-bieu-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784209"/>
            <a:ext cx="4389120" cy="3038621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pic>
        <p:nvPicPr>
          <p:cNvPr id="8" name="Picture 7" descr="12-tien-bo-bieu-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40" y="3784209"/>
            <a:ext cx="4389120" cy="3038621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82811" y="1005632"/>
            <a:ext cx="155448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lang="en-US" sz="4477" b="1" spc="-223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ỨNG DỤNG AI CÓ TRÁCH NHIỆM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16868775" cy="694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Giáo viên là người quyết định</a:t>
            </a: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: duyệt đề, sửa đáp án, chốt điểm, mức đạt, nhận xét; có chấm tay đầy đủ.</a:t>
            </a:r>
          </a:p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Kiểm soát chất lượng</a:t>
            </a: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: AI kiểm định lượt 2; khung cấu trúc và quy tắc trình bày đáp án chuẩn tiểu học; mức TT27 tính bằng quy tắc công khai.</a:t>
            </a:r>
          </a:p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Bảo vệ dữ liệu học sinh</a:t>
            </a: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: không gửi tên học sinh cho AI khi soạn, chấm online, gợi ý học bạ; ảnh bài làm chỉ gửi để chấm, không lưu.</a:t>
            </a:r>
          </a:p>
          <a:p>
            <a:pPr marL="1306919" lvl="2" indent="-435640" algn="l">
              <a:lnSpc>
                <a:spcPts val="3645"/>
              </a:lnSpc>
              <a:buFont typeface="Arial"/>
              <a:buChar char="⚬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Học sinh không cần tài khoản; dữ liệu mỗi giáo viên tách riêng; cơ sở dữ liệu chặn truy cập công khai.</a:t>
            </a:r>
          </a:p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 b="1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Công bằng</a:t>
            </a: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: phiếu nhóm dùng tên màu trung tính; học sinh làm online biết đúng/sai nhưng không thấy đáp án.</a:t>
            </a:r>
          </a:p>
          <a:p>
            <a:pPr marL="653460" lvl="1" indent="-326730" algn="l">
              <a:lnSpc>
                <a:spcPts val="3645"/>
              </a:lnSpc>
              <a:buFont typeface="Arial"/>
              <a:buChar char="•"/>
            </a:pPr>
            <a:r>
              <a:rPr lang="en-US" sz="2700">
                <a:solidFill>
                  <a:srgbClr val="000054"/>
                </a:solidFill>
                <a:latin typeface="Aptos"/>
                <a:ea typeface="Aptos"/>
                <a:cs typeface="Aptos"/>
                <a:sym typeface="Aptos"/>
              </a:rPr>
              <a:t>Thí điểm có sự đồng ý của nhà trường và phụ huynh; hình ảnh không lộ mặt học sinh.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daa77bc-0157-46a4-82a6-8fc765694bc9}" enabled="1" method="Standard" siteId="{d1323671-cdbe-4417-b4d4-bdb24b51316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836</Words>
  <Application>Microsoft Office PowerPoint</Application>
  <PresentationFormat>Custom</PresentationFormat>
  <Paragraphs>82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 Bold</vt:lpstr>
      <vt:lpstr>Arial</vt:lpstr>
      <vt:lpstr>Museo RMIT VN Light</vt:lpstr>
      <vt:lpstr>Museo RMIT VN Bold</vt:lpstr>
      <vt:lpstr>Calibri</vt:lpstr>
      <vt:lpstr>Aptos Italics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Slide_2026</dc:title>
  <cp:lastModifiedBy>Linh Tran</cp:lastModifiedBy>
  <cp:revision>2</cp:revision>
  <dcterms:created xsi:type="dcterms:W3CDTF">2006-08-16T00:00:00Z</dcterms:created>
  <dcterms:modified xsi:type="dcterms:W3CDTF">2026-10-02T04:38:53Z</dcterms:modified>
  <dc:identifier>DAHWihqIcbo</dc:identifier>
</cp:coreProperties>
</file>