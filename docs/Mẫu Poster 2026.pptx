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30276800" cy="42799000"/>
  <p:notesSz cx="6858000" cy="9144000"/>
  <p:embeddedFontLst>
    <p:embeddedFont>
      <p:font typeface="Aptos Bold" charset="1" panose="020B0004020202020204"/>
      <p:regular r:id="rId7"/>
    </p:embeddedFont>
    <p:embeddedFont>
      <p:font typeface="Aptos" charset="1" panose="020B000402020202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2090" y="10112792"/>
            <a:ext cx="26764953" cy="31129009"/>
            <a:chOff x="0" y="0"/>
            <a:chExt cx="2395137" cy="2785667"/>
          </a:xfrm>
        </p:grpSpPr>
        <p:sp>
          <p:nvSpPr>
            <p:cNvPr name="Freeform 3" id="3"/>
            <p:cNvSpPr/>
            <p:nvPr/>
          </p:nvSpPr>
          <p:spPr>
            <a:xfrm flipH="false" flipV="false" rot="0">
              <a:off x="0" y="0"/>
              <a:ext cx="2395137" cy="2785667"/>
            </a:xfrm>
            <a:custGeom>
              <a:avLst/>
              <a:gdLst/>
              <a:ahLst/>
              <a:cxnLst/>
              <a:rect r="r" b="b" t="t" l="l"/>
              <a:pathLst>
                <a:path h="2785667" w="2395137">
                  <a:moveTo>
                    <a:pt x="0" y="0"/>
                  </a:moveTo>
                  <a:lnTo>
                    <a:pt x="2395137" y="0"/>
                  </a:lnTo>
                  <a:lnTo>
                    <a:pt x="2395137" y="2785667"/>
                  </a:lnTo>
                  <a:lnTo>
                    <a:pt x="0" y="2785667"/>
                  </a:lnTo>
                  <a:close/>
                </a:path>
              </a:pathLst>
            </a:custGeom>
            <a:ln w="95250" cap="sq">
              <a:solidFill>
                <a:srgbClr val="D9D9D9"/>
              </a:solidFill>
              <a:prstDash val="sysDot"/>
              <a:miter/>
            </a:ln>
          </p:spPr>
        </p:sp>
        <p:sp>
          <p:nvSpPr>
            <p:cNvPr name="TextBox 4" id="4"/>
            <p:cNvSpPr txBox="true"/>
            <p:nvPr/>
          </p:nvSpPr>
          <p:spPr>
            <a:xfrm>
              <a:off x="0" y="0"/>
              <a:ext cx="2395137" cy="2785667"/>
            </a:xfrm>
            <a:prstGeom prst="rect">
              <a:avLst/>
            </a:prstGeom>
          </p:spPr>
          <p:txBody>
            <a:bodyPr anchor="ctr" rtlCol="false" tIns="50800" lIns="50800" bIns="50800" rIns="50800"/>
            <a:lstStyle/>
            <a:p>
              <a:pPr algn="ctr">
                <a:lnSpc>
                  <a:spcPts val="5860"/>
                </a:lnSpc>
              </a:pPr>
            </a:p>
          </p:txBody>
        </p:sp>
      </p:grpSp>
      <p:sp>
        <p:nvSpPr>
          <p:cNvPr name="TextBox 5" id="5"/>
          <p:cNvSpPr txBox="true"/>
          <p:nvPr/>
        </p:nvSpPr>
        <p:spPr>
          <a:xfrm rot="0">
            <a:off x="3027600" y="11431442"/>
            <a:ext cx="22800184" cy="11157851"/>
          </a:xfrm>
          <a:prstGeom prst="rect">
            <a:avLst/>
          </a:prstGeom>
        </p:spPr>
        <p:txBody>
          <a:bodyPr anchor="t" rtlCol="false" tIns="0" lIns="0" bIns="0" rIns="0">
            <a:spAutoFit/>
          </a:bodyPr>
          <a:lstStyle/>
          <a:p>
            <a:pPr algn="just">
              <a:lnSpc>
                <a:spcPts val="5191"/>
              </a:lnSpc>
            </a:pPr>
            <a:r>
              <a:rPr lang="en-US" b="true" sz="4290">
                <a:solidFill>
                  <a:srgbClr val="000054"/>
                </a:solidFill>
                <a:latin typeface="Aptos Bold"/>
                <a:ea typeface="Aptos Bold"/>
                <a:cs typeface="Aptos Bold"/>
                <a:sym typeface="Aptos Bold"/>
              </a:rPr>
              <a:t>Nội dung gợi ý cho Poster:</a:t>
            </a:r>
          </a:p>
          <a:p>
            <a:pPr algn="just">
              <a:lnSpc>
                <a:spcPts val="5191"/>
              </a:lnSpc>
            </a:pPr>
          </a:p>
          <a:p>
            <a:pPr algn="just">
              <a:lnSpc>
                <a:spcPts val="5191"/>
              </a:lnSpc>
              <a:spcBef>
                <a:spcPct val="0"/>
              </a:spcBef>
            </a:pPr>
            <a:r>
              <a:rPr lang="en-US" sz="4290">
                <a:solidFill>
                  <a:srgbClr val="000054"/>
                </a:solidFill>
                <a:latin typeface="Aptos"/>
                <a:ea typeface="Aptos"/>
                <a:cs typeface="Aptos"/>
                <a:sym typeface="Aptos"/>
              </a:rPr>
              <a:t>Giới</a:t>
            </a:r>
            <a:r>
              <a:rPr lang="en-US" sz="4290">
                <a:solidFill>
                  <a:srgbClr val="000054"/>
                </a:solidFill>
                <a:latin typeface="Aptos"/>
                <a:ea typeface="Aptos"/>
                <a:cs typeface="Aptos"/>
                <a:sym typeface="Aptos"/>
              </a:rPr>
              <a:t> thiệu ngắn bối cảnh/vấn đề</a:t>
            </a:r>
            <a:r>
              <a:rPr lang="en-US" sz="4290">
                <a:solidFill>
                  <a:srgbClr val="000054"/>
                </a:solidFill>
                <a:latin typeface="Aptos"/>
                <a:ea typeface="Aptos"/>
                <a:cs typeface="Aptos"/>
                <a:sym typeface="Aptos"/>
              </a:rPr>
              <a:t> và đối tượng thụ hưởng (học sinh, giáo viên, hoặc nhà trường). Nêu ý tưởng và sản phẩm/ giải pháp AI đã áp dụng, cách triển khai thực tế và minh họa. Trình bày kết quả hoặc tác động nổi bật. Chia sẻ ngắn gọn nhận xét, định hướng phát triển tiếp theo nếu có. </a:t>
            </a:r>
            <a:r>
              <a:rPr lang="en-US" sz="4290">
                <a:solidFill>
                  <a:srgbClr val="000054"/>
                </a:solidFill>
                <a:latin typeface="Aptos"/>
                <a:ea typeface="Aptos"/>
                <a:cs typeface="Aptos"/>
                <a:sym typeface="Aptos"/>
              </a:rPr>
              <a:t>Có</a:t>
            </a:r>
            <a:r>
              <a:rPr lang="en-US" sz="4290">
                <a:solidFill>
                  <a:srgbClr val="000054"/>
                </a:solidFill>
                <a:latin typeface="Aptos"/>
                <a:ea typeface="Aptos"/>
                <a:cs typeface="Aptos"/>
                <a:sym typeface="Aptos"/>
              </a:rPr>
              <a:t> thể bổ sung QR code hoặc đường dẫn tới tài liệu, prompt hoặc sản phẩm chi tiết để minh họa thêm nếu cần.</a:t>
            </a:r>
          </a:p>
          <a:p>
            <a:pPr algn="just">
              <a:lnSpc>
                <a:spcPts val="5191"/>
              </a:lnSpc>
              <a:spcBef>
                <a:spcPct val="0"/>
              </a:spcBef>
            </a:pPr>
          </a:p>
          <a:p>
            <a:pPr algn="just">
              <a:lnSpc>
                <a:spcPts val="5191"/>
              </a:lnSpc>
              <a:spcBef>
                <a:spcPct val="0"/>
              </a:spcBef>
            </a:pPr>
            <a:r>
              <a:rPr lang="en-US" b="true" sz="4290">
                <a:solidFill>
                  <a:srgbClr val="000054"/>
                </a:solidFill>
                <a:latin typeface="Aptos Bold"/>
                <a:ea typeface="Aptos Bold"/>
                <a:cs typeface="Aptos Bold"/>
                <a:sym typeface="Aptos Bold"/>
              </a:rPr>
              <a:t>Lưu ý: </a:t>
            </a:r>
          </a:p>
          <a:p>
            <a:pPr algn="just">
              <a:lnSpc>
                <a:spcPts val="5191"/>
              </a:lnSpc>
              <a:spcBef>
                <a:spcPct val="0"/>
              </a:spcBef>
            </a:pPr>
          </a:p>
          <a:p>
            <a:pPr algn="just">
              <a:lnSpc>
                <a:spcPts val="5191"/>
              </a:lnSpc>
              <a:spcBef>
                <a:spcPct val="0"/>
              </a:spcBef>
            </a:pPr>
            <a:r>
              <a:rPr lang="en-US" sz="4290">
                <a:solidFill>
                  <a:srgbClr val="000054"/>
                </a:solidFill>
                <a:latin typeface="Aptos"/>
                <a:ea typeface="Aptos"/>
                <a:cs typeface="Aptos"/>
                <a:sym typeface="Aptos"/>
              </a:rPr>
              <a:t>Ngoài phần đầu trang đã có sẵn theo mẫu, thầy/cô thêm tên dự án, giáo viên thực hiện và đơn vị công tác vào vị trí đã có sẵn. Phần nội dung thầy/cô có thể tự do trình bày và định dạng theo phong cách riêng.</a:t>
            </a:r>
          </a:p>
          <a:p>
            <a:pPr algn="just">
              <a:lnSpc>
                <a:spcPts val="5191"/>
              </a:lnSpc>
              <a:spcBef>
                <a:spcPct val="0"/>
              </a:spcBef>
            </a:pPr>
          </a:p>
          <a:p>
            <a:pPr algn="just">
              <a:lnSpc>
                <a:spcPts val="5191"/>
              </a:lnSpc>
              <a:spcBef>
                <a:spcPct val="0"/>
              </a:spcBef>
            </a:pPr>
            <a:r>
              <a:rPr lang="en-US" sz="4290">
                <a:solidFill>
                  <a:srgbClr val="000054"/>
                </a:solidFill>
                <a:latin typeface="Aptos"/>
                <a:ea typeface="Aptos"/>
                <a:cs typeface="Aptos"/>
                <a:sym typeface="Aptos"/>
              </a:rPr>
              <a:t>Khuyến khích nội dung nên được dàn trong phạm vi đường kẻ đứt đoạn, để đảm bảo mọi thông tin được hiển thị rõ và đầy đủ. </a:t>
            </a:r>
            <a:r>
              <a:rPr lang="en-US" b="true" sz="4290">
                <a:solidFill>
                  <a:srgbClr val="000054"/>
                </a:solidFill>
                <a:latin typeface="Aptos Bold"/>
                <a:ea typeface="Aptos Bold"/>
                <a:cs typeface="Aptos Bold"/>
                <a:sym typeface="Aptos Bold"/>
              </a:rPr>
              <a:t>Vui lòng xóa đường kẻ viền đi sau khi đã dàn nội dung.</a:t>
            </a:r>
          </a:p>
          <a:p>
            <a:pPr algn="just">
              <a:lnSpc>
                <a:spcPts val="5191"/>
              </a:lnSpc>
              <a:spcBef>
                <a:spcPct val="0"/>
              </a:spcBef>
            </a:pPr>
          </a:p>
        </p:txBody>
      </p:sp>
      <p:sp>
        <p:nvSpPr>
          <p:cNvPr name="Freeform 6" id="6"/>
          <p:cNvSpPr/>
          <p:nvPr/>
        </p:nvSpPr>
        <p:spPr>
          <a:xfrm flipH="false" flipV="false" rot="0">
            <a:off x="0" y="0"/>
            <a:ext cx="30276000" cy="5506447"/>
          </a:xfrm>
          <a:custGeom>
            <a:avLst/>
            <a:gdLst/>
            <a:ahLst/>
            <a:cxnLst/>
            <a:rect r="r" b="b" t="t" l="l"/>
            <a:pathLst>
              <a:path h="5506447" w="30276000">
                <a:moveTo>
                  <a:pt x="0" y="0"/>
                </a:moveTo>
                <a:lnTo>
                  <a:pt x="30276000" y="0"/>
                </a:lnTo>
                <a:lnTo>
                  <a:pt x="30276000" y="5506447"/>
                </a:lnTo>
                <a:lnTo>
                  <a:pt x="0" y="5506447"/>
                </a:lnTo>
                <a:lnTo>
                  <a:pt x="0" y="0"/>
                </a:lnTo>
                <a:close/>
              </a:path>
            </a:pathLst>
          </a:custGeom>
          <a:blipFill>
            <a:blip r:embed="rId2"/>
            <a:stretch>
              <a:fillRect l="0" t="0" r="0" b="0"/>
            </a:stretch>
          </a:blipFill>
        </p:spPr>
      </p:sp>
      <p:sp>
        <p:nvSpPr>
          <p:cNvPr name="TextBox 7" id="7"/>
          <p:cNvSpPr txBox="true"/>
          <p:nvPr/>
        </p:nvSpPr>
        <p:spPr>
          <a:xfrm rot="0">
            <a:off x="1744275" y="6325409"/>
            <a:ext cx="27886654" cy="1218529"/>
          </a:xfrm>
          <a:prstGeom prst="rect">
            <a:avLst/>
          </a:prstGeom>
        </p:spPr>
        <p:txBody>
          <a:bodyPr anchor="t" rtlCol="false" tIns="0" lIns="0" bIns="0" rIns="0">
            <a:spAutoFit/>
          </a:bodyPr>
          <a:lstStyle/>
          <a:p>
            <a:pPr algn="l">
              <a:lnSpc>
                <a:spcPts val="9680"/>
              </a:lnSpc>
            </a:pPr>
            <a:r>
              <a:rPr lang="en-US" sz="8000" b="true">
                <a:solidFill>
                  <a:srgbClr val="090081"/>
                </a:solidFill>
                <a:latin typeface="Aptos Bold"/>
                <a:ea typeface="Aptos Bold"/>
                <a:cs typeface="Aptos Bold"/>
                <a:sym typeface="Aptos Bold"/>
              </a:rPr>
              <a:t>[VUI LÒNG THAY </a:t>
            </a:r>
            <a:r>
              <a:rPr lang="en-US" b="true" sz="8000">
                <a:solidFill>
                  <a:srgbClr val="090081"/>
                </a:solidFill>
                <a:latin typeface="Aptos Bold"/>
                <a:ea typeface="Aptos Bold"/>
                <a:cs typeface="Aptos Bold"/>
                <a:sym typeface="Aptos Bold"/>
              </a:rPr>
              <a:t>TÊN SẢN PHẨM VÀO DÒNG NÀY]</a:t>
            </a:r>
          </a:p>
        </p:txBody>
      </p:sp>
      <p:sp>
        <p:nvSpPr>
          <p:cNvPr name="TextBox 8" id="8"/>
          <p:cNvSpPr txBox="true"/>
          <p:nvPr/>
        </p:nvSpPr>
        <p:spPr>
          <a:xfrm rot="0">
            <a:off x="1744275" y="7779557"/>
            <a:ext cx="27886654" cy="1365885"/>
          </a:xfrm>
          <a:prstGeom prst="rect">
            <a:avLst/>
          </a:prstGeom>
        </p:spPr>
        <p:txBody>
          <a:bodyPr anchor="t" rtlCol="false" tIns="0" lIns="0" bIns="0" rIns="0">
            <a:spAutoFit/>
          </a:bodyPr>
          <a:lstStyle/>
          <a:p>
            <a:pPr algn="l">
              <a:lnSpc>
                <a:spcPts val="5445"/>
              </a:lnSpc>
            </a:pPr>
            <a:r>
              <a:rPr lang="en-US" sz="4500" b="true">
                <a:solidFill>
                  <a:srgbClr val="090081"/>
                </a:solidFill>
                <a:latin typeface="Aptos Bold"/>
                <a:ea typeface="Aptos Bold"/>
                <a:cs typeface="Aptos Bold"/>
                <a:sym typeface="Aptos Bold"/>
              </a:rPr>
              <a:t>Giáo viên thực hiện: </a:t>
            </a:r>
            <a:r>
              <a:rPr lang="en-US" sz="4500">
                <a:solidFill>
                  <a:srgbClr val="090081"/>
                </a:solidFill>
                <a:latin typeface="Aptos"/>
                <a:ea typeface="Aptos"/>
                <a:cs typeface="Aptos"/>
                <a:sym typeface="Aptos"/>
              </a:rPr>
              <a:t>HỌ VÀ TÊN </a:t>
            </a:r>
          </a:p>
          <a:p>
            <a:pPr algn="l">
              <a:lnSpc>
                <a:spcPts val="5445"/>
              </a:lnSpc>
            </a:pPr>
            <a:r>
              <a:rPr lang="en-US" b="true" sz="4500">
                <a:solidFill>
                  <a:srgbClr val="090081"/>
                </a:solidFill>
                <a:latin typeface="Aptos Bold"/>
                <a:ea typeface="Aptos Bold"/>
                <a:cs typeface="Aptos Bold"/>
                <a:sym typeface="Aptos Bold"/>
              </a:rPr>
              <a:t>Đơn vị công tác: </a:t>
            </a:r>
            <a:r>
              <a:rPr lang="en-US" sz="4500">
                <a:solidFill>
                  <a:srgbClr val="090081"/>
                </a:solidFill>
                <a:latin typeface="Aptos"/>
                <a:ea typeface="Aptos"/>
                <a:cs typeface="Aptos"/>
                <a:sym typeface="Aptos"/>
              </a:rPr>
              <a:t>Tên và địa chỉ đơn vị công tác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DAHW1Dh9jN8</dc:identifier>
  <dcterms:modified xsi:type="dcterms:W3CDTF">2011-08-01T06:04:30Z</dcterms:modified>
  <cp:revision>1</cp:revision>
  <dc:title>Mẫu Poster - Giải thưởng Tiên Phong Ứng dụng AI trong giáo dục Việt Nam 2026</dc:title>
</cp:coreProperties>
</file>